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52" r:id="rId2"/>
    <p:sldId id="347" r:id="rId3"/>
    <p:sldId id="356" r:id="rId4"/>
    <p:sldId id="360" r:id="rId5"/>
    <p:sldId id="357" r:id="rId6"/>
    <p:sldId id="362" r:id="rId7"/>
    <p:sldId id="363" r:id="rId8"/>
    <p:sldId id="358" r:id="rId9"/>
    <p:sldId id="364" r:id="rId10"/>
    <p:sldId id="365" r:id="rId11"/>
    <p:sldId id="366" r:id="rId12"/>
    <p:sldId id="359" r:id="rId13"/>
    <p:sldId id="367" r:id="rId14"/>
    <p:sldId id="368" r:id="rId15"/>
    <p:sldId id="3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D974BC-4189-4E41-95BC-0D91F06B4E4D}" type="datetimeFigureOut">
              <a:rPr lang="en-US" smtClean="0"/>
              <a:t>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6C50B-DC6E-9B47-8DE1-21D570F7A1ED}" type="slidenum">
              <a:rPr lang="en-US" smtClean="0"/>
              <a:t>‹#›</a:t>
            </a:fld>
            <a:endParaRPr lang="en-US"/>
          </a:p>
        </p:txBody>
      </p:sp>
    </p:spTree>
    <p:extLst>
      <p:ext uri="{BB962C8B-B14F-4D97-AF65-F5344CB8AC3E}">
        <p14:creationId xmlns:p14="http://schemas.microsoft.com/office/powerpoint/2010/main" val="602747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The name of my project is "BMW Sales and Global GDP: A Comparative Analysis." I looked at BMW's sales around the world from 2010 to 2024 and compared them to global GDP growth to get a better idea of how the economy affects a company's performance.</a:t>
            </a:r>
          </a:p>
        </p:txBody>
      </p:sp>
      <p:sp>
        <p:nvSpPr>
          <p:cNvPr id="4" name="Slide Number Placeholder 3"/>
          <p:cNvSpPr>
            <a:spLocks noGrp="1"/>
          </p:cNvSpPr>
          <p:nvPr>
            <p:ph type="sldNum" sz="quarter" idx="5"/>
          </p:nvPr>
        </p:nvSpPr>
        <p:spPr/>
        <p:txBody>
          <a:bodyPr/>
          <a:lstStyle/>
          <a:p>
            <a:fld id="{F116C50B-DC6E-9B47-8DE1-21D570F7A1ED}" type="slidenum">
              <a:rPr lang="en-US" smtClean="0"/>
              <a:t>1</a:t>
            </a:fld>
            <a:endParaRPr lang="en-US"/>
          </a:p>
        </p:txBody>
      </p:sp>
    </p:spTree>
    <p:extLst>
      <p:ext uri="{BB962C8B-B14F-4D97-AF65-F5344CB8AC3E}">
        <p14:creationId xmlns:p14="http://schemas.microsoft.com/office/powerpoint/2010/main" val="4114638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for today's presentation. I'll start by talking about the project's idea and why it was started. Then I'll show the data, analyze it, and make predictions about what will happen. I'll finish with a short conclusion and a list of the problems I had.</a:t>
            </a:r>
          </a:p>
        </p:txBody>
      </p:sp>
      <p:sp>
        <p:nvSpPr>
          <p:cNvPr id="4" name="Slide Number Placeholder 3"/>
          <p:cNvSpPr>
            <a:spLocks noGrp="1"/>
          </p:cNvSpPr>
          <p:nvPr>
            <p:ph type="sldNum" sz="quarter" idx="5"/>
          </p:nvPr>
        </p:nvSpPr>
        <p:spPr/>
        <p:txBody>
          <a:bodyPr/>
          <a:lstStyle/>
          <a:p>
            <a:fld id="{F116C50B-DC6E-9B47-8DE1-21D570F7A1ED}" type="slidenum">
              <a:rPr lang="en-US" smtClean="0"/>
              <a:t>2</a:t>
            </a:fld>
            <a:endParaRPr lang="en-US"/>
          </a:p>
        </p:txBody>
      </p:sp>
    </p:spTree>
    <p:extLst>
      <p:ext uri="{BB962C8B-B14F-4D97-AF65-F5344CB8AC3E}">
        <p14:creationId xmlns:p14="http://schemas.microsoft.com/office/powerpoint/2010/main" val="675395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choose this project because I love BMWs and wanted to learn more about how the brand's sales have changed over time. I started using a Kaggle dataset, although it had several mistakes in it. So, instead, I generated my own dataset by checking facts from more than fourteen BMW annual reports. I also got world GDP data from the World Bank API. The main purpose is to look at BMW's sales trends and see how they relate to the state of the world economy. Then, create simple projections for the next few years.</a:t>
            </a:r>
          </a:p>
        </p:txBody>
      </p:sp>
      <p:sp>
        <p:nvSpPr>
          <p:cNvPr id="4" name="Slide Number Placeholder 3"/>
          <p:cNvSpPr>
            <a:spLocks noGrp="1"/>
          </p:cNvSpPr>
          <p:nvPr>
            <p:ph type="sldNum" sz="quarter" idx="5"/>
          </p:nvPr>
        </p:nvSpPr>
        <p:spPr/>
        <p:txBody>
          <a:bodyPr/>
          <a:lstStyle/>
          <a:p>
            <a:fld id="{F116C50B-DC6E-9B47-8DE1-21D570F7A1ED}" type="slidenum">
              <a:rPr lang="en-US" smtClean="0"/>
              <a:t>4</a:t>
            </a:fld>
            <a:endParaRPr lang="en-US"/>
          </a:p>
        </p:txBody>
      </p:sp>
    </p:spTree>
    <p:extLst>
      <p:ext uri="{BB962C8B-B14F-4D97-AF65-F5344CB8AC3E}">
        <p14:creationId xmlns:p14="http://schemas.microsoft.com/office/powerpoint/2010/main" val="2700061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6751A-F95F-5CC0-B73C-B7F5A58D20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DFE5C-5A3F-96B9-8AB9-E93E5308F8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6A7063-AB21-90FF-245B-7AA10084091A}"/>
              </a:ext>
            </a:extLst>
          </p:cNvPr>
          <p:cNvSpPr>
            <a:spLocks noGrp="1"/>
          </p:cNvSpPr>
          <p:nvPr>
            <p:ph type="body" idx="1"/>
          </p:nvPr>
        </p:nvSpPr>
        <p:spPr/>
        <p:txBody>
          <a:bodyPr/>
          <a:lstStyle/>
          <a:p>
            <a:r>
              <a:rPr lang="en-US" dirty="0"/>
              <a:t>The following chart illustrates how many BMWs were sold around the world from 2010 to 2024. I initially changed the raw data into a structured format and cleaned it up by getting rid of inconsistencies, resolving formatting problems, and so on. This way, the trends could be evaluated accurately. There are short-term dips in the results because of things like economic slowdowns or problems with the supply chain, but overall, the trend is clearly going up over the long term. Overall, BMW is quite strong and has been growing steadily over time.</a:t>
            </a:r>
          </a:p>
        </p:txBody>
      </p:sp>
      <p:sp>
        <p:nvSpPr>
          <p:cNvPr id="4" name="Slide Number Placeholder 3">
            <a:extLst>
              <a:ext uri="{FF2B5EF4-FFF2-40B4-BE49-F238E27FC236}">
                <a16:creationId xmlns:a16="http://schemas.microsoft.com/office/drawing/2014/main" id="{3AF2BB45-0627-8367-48F5-C25AF4BEAB1A}"/>
              </a:ext>
            </a:extLst>
          </p:cNvPr>
          <p:cNvSpPr>
            <a:spLocks noGrp="1"/>
          </p:cNvSpPr>
          <p:nvPr>
            <p:ph type="sldNum" sz="quarter" idx="5"/>
          </p:nvPr>
        </p:nvSpPr>
        <p:spPr/>
        <p:txBody>
          <a:bodyPr/>
          <a:lstStyle/>
          <a:p>
            <a:fld id="{F116C50B-DC6E-9B47-8DE1-21D570F7A1ED}" type="slidenum">
              <a:rPr lang="en-US" smtClean="0"/>
              <a:t>6</a:t>
            </a:fld>
            <a:endParaRPr lang="en-US"/>
          </a:p>
        </p:txBody>
      </p:sp>
    </p:spTree>
    <p:extLst>
      <p:ext uri="{BB962C8B-B14F-4D97-AF65-F5344CB8AC3E}">
        <p14:creationId xmlns:p14="http://schemas.microsoft.com/office/powerpoint/2010/main" val="2877015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7738E-4789-9D71-4122-04A42A6A5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DE0EF1-EF7B-F692-B01B-857B90452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673071-FFCA-F133-AC8C-98C5A6F91CE7}"/>
              </a:ext>
            </a:extLst>
          </p:cNvPr>
          <p:cNvSpPr>
            <a:spLocks noGrp="1"/>
          </p:cNvSpPr>
          <p:nvPr>
            <p:ph type="body" idx="1"/>
          </p:nvPr>
        </p:nvSpPr>
        <p:spPr/>
        <p:txBody>
          <a:bodyPr/>
          <a:lstStyle/>
          <a:p>
            <a:r>
              <a:rPr lang="en-US" dirty="0"/>
              <a:t>This is the growth of the world's GDP over the same time. Before looking at the trends, I also cleaned up and formatted this dataset to make sure the values were correct and consistent. GDP growth changes more quickly than BMW sales, indicating evident economic cycles of slowdowns followed by periods of recovery. This gives us critical background information that will help us understand how outside economic factors might affect BMW's sales.</a:t>
            </a:r>
          </a:p>
        </p:txBody>
      </p:sp>
      <p:sp>
        <p:nvSpPr>
          <p:cNvPr id="4" name="Slide Number Placeholder 3">
            <a:extLst>
              <a:ext uri="{FF2B5EF4-FFF2-40B4-BE49-F238E27FC236}">
                <a16:creationId xmlns:a16="http://schemas.microsoft.com/office/drawing/2014/main" id="{F63033BD-4AED-210E-D5EC-AA2D8B806AB3}"/>
              </a:ext>
            </a:extLst>
          </p:cNvPr>
          <p:cNvSpPr>
            <a:spLocks noGrp="1"/>
          </p:cNvSpPr>
          <p:nvPr>
            <p:ph type="sldNum" sz="quarter" idx="5"/>
          </p:nvPr>
        </p:nvSpPr>
        <p:spPr/>
        <p:txBody>
          <a:bodyPr/>
          <a:lstStyle/>
          <a:p>
            <a:fld id="{F116C50B-DC6E-9B47-8DE1-21D570F7A1ED}" type="slidenum">
              <a:rPr lang="en-US" smtClean="0"/>
              <a:t>7</a:t>
            </a:fld>
            <a:endParaRPr lang="en-US"/>
          </a:p>
        </p:txBody>
      </p:sp>
    </p:spTree>
    <p:extLst>
      <p:ext uri="{BB962C8B-B14F-4D97-AF65-F5344CB8AC3E}">
        <p14:creationId xmlns:p14="http://schemas.microsoft.com/office/powerpoint/2010/main" val="2233116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CB101-56E1-5315-8A0C-3C609D08DD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F014E-E08F-2218-FA4A-362EFD55B3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12762B-5B70-C654-010F-570017C7111F}"/>
              </a:ext>
            </a:extLst>
          </p:cNvPr>
          <p:cNvSpPr>
            <a:spLocks noGrp="1"/>
          </p:cNvSpPr>
          <p:nvPr>
            <p:ph type="body" idx="1"/>
          </p:nvPr>
        </p:nvSpPr>
        <p:spPr/>
        <p:txBody>
          <a:bodyPr/>
          <a:lstStyle/>
          <a:p>
            <a:r>
              <a:rPr lang="en-US" dirty="0"/>
              <a:t>This comparison is based on combining the cleaned BMW sales data with the cleaned global GDP data. The combined information reveals that when global GDP goes up, BMW sales usually go up too. This suggests that the two things are related in a good way. But BMW's sales trajectory is smoother and more stable than GDP, which shows that the company's own strategy, brand strength, and product portfolio are also important for long-term growth.</a:t>
            </a:r>
          </a:p>
        </p:txBody>
      </p:sp>
      <p:sp>
        <p:nvSpPr>
          <p:cNvPr id="4" name="Slide Number Placeholder 3">
            <a:extLst>
              <a:ext uri="{FF2B5EF4-FFF2-40B4-BE49-F238E27FC236}">
                <a16:creationId xmlns:a16="http://schemas.microsoft.com/office/drawing/2014/main" id="{38C93C03-3A6A-2591-FF56-916825669720}"/>
              </a:ext>
            </a:extLst>
          </p:cNvPr>
          <p:cNvSpPr>
            <a:spLocks noGrp="1"/>
          </p:cNvSpPr>
          <p:nvPr>
            <p:ph type="sldNum" sz="quarter" idx="5"/>
          </p:nvPr>
        </p:nvSpPr>
        <p:spPr/>
        <p:txBody>
          <a:bodyPr/>
          <a:lstStyle/>
          <a:p>
            <a:fld id="{F116C50B-DC6E-9B47-8DE1-21D570F7A1ED}" type="slidenum">
              <a:rPr lang="en-US" smtClean="0"/>
              <a:t>9</a:t>
            </a:fld>
            <a:endParaRPr lang="en-US"/>
          </a:p>
        </p:txBody>
      </p:sp>
    </p:spTree>
    <p:extLst>
      <p:ext uri="{BB962C8B-B14F-4D97-AF65-F5344CB8AC3E}">
        <p14:creationId xmlns:p14="http://schemas.microsoft.com/office/powerpoint/2010/main" val="679250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95259-2F61-5C6A-22D7-CE46AAD8A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A1138-43D0-7308-EB27-F58DCC3DB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2739D5-9FB8-E696-BC10-27DA87A9DCDF}"/>
              </a:ext>
            </a:extLst>
          </p:cNvPr>
          <p:cNvSpPr>
            <a:spLocks noGrp="1"/>
          </p:cNvSpPr>
          <p:nvPr>
            <p:ph type="body" idx="1"/>
          </p:nvPr>
        </p:nvSpPr>
        <p:spPr/>
        <p:txBody>
          <a:bodyPr/>
          <a:lstStyle/>
          <a:p>
            <a:r>
              <a:rPr lang="en-US" dirty="0"/>
              <a:t>To sum up the trends, BMW sales go up gradually over time, GDP growth goes up and down, and even though the economy does affect sales, BMW's long-term upward trajectory is strong and solid.</a:t>
            </a:r>
          </a:p>
        </p:txBody>
      </p:sp>
      <p:sp>
        <p:nvSpPr>
          <p:cNvPr id="4" name="Slide Number Placeholder 3">
            <a:extLst>
              <a:ext uri="{FF2B5EF4-FFF2-40B4-BE49-F238E27FC236}">
                <a16:creationId xmlns:a16="http://schemas.microsoft.com/office/drawing/2014/main" id="{B68C2D96-4043-701F-CFB8-52E8AD754FA0}"/>
              </a:ext>
            </a:extLst>
          </p:cNvPr>
          <p:cNvSpPr>
            <a:spLocks noGrp="1"/>
          </p:cNvSpPr>
          <p:nvPr>
            <p:ph type="sldNum" sz="quarter" idx="5"/>
          </p:nvPr>
        </p:nvSpPr>
        <p:spPr/>
        <p:txBody>
          <a:bodyPr/>
          <a:lstStyle/>
          <a:p>
            <a:fld id="{F116C50B-DC6E-9B47-8DE1-21D570F7A1ED}" type="slidenum">
              <a:rPr lang="en-US" smtClean="0"/>
              <a:t>10</a:t>
            </a:fld>
            <a:endParaRPr lang="en-US"/>
          </a:p>
        </p:txBody>
      </p:sp>
    </p:spTree>
    <p:extLst>
      <p:ext uri="{BB962C8B-B14F-4D97-AF65-F5344CB8AC3E}">
        <p14:creationId xmlns:p14="http://schemas.microsoft.com/office/powerpoint/2010/main" val="226766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2A358-F20D-DD44-E2C2-0CC9B66D1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C027A-0A77-7B00-CCC2-B37DF458E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ABCFD-9EFE-A421-56BC-0A10A8317100}"/>
              </a:ext>
            </a:extLst>
          </p:cNvPr>
          <p:cNvSpPr>
            <a:spLocks noGrp="1"/>
          </p:cNvSpPr>
          <p:nvPr>
            <p:ph type="body" idx="1"/>
          </p:nvPr>
        </p:nvSpPr>
        <p:spPr/>
        <p:txBody>
          <a:bodyPr/>
          <a:lstStyle/>
          <a:p>
            <a:r>
              <a:rPr lang="en-US" dirty="0"/>
              <a:t>The regression model puts numbers on these relationships. Sales go up by roughly 66,000 units every year, which shows that the company is growing quickly over time. A 1% rise in GDP growth adds about 5,864 units, which is good but not the main reason for the rise. I used this model to predict sales from 2025 to 2030. I think sales will go up from roughly 2.44 million units to 2.78 million units if global growth stays the same.</a:t>
            </a:r>
          </a:p>
        </p:txBody>
      </p:sp>
      <p:sp>
        <p:nvSpPr>
          <p:cNvPr id="4" name="Slide Number Placeholder 3">
            <a:extLst>
              <a:ext uri="{FF2B5EF4-FFF2-40B4-BE49-F238E27FC236}">
                <a16:creationId xmlns:a16="http://schemas.microsoft.com/office/drawing/2014/main" id="{533AB663-C9A6-021B-64D3-1A89B84FA630}"/>
              </a:ext>
            </a:extLst>
          </p:cNvPr>
          <p:cNvSpPr>
            <a:spLocks noGrp="1"/>
          </p:cNvSpPr>
          <p:nvPr>
            <p:ph type="sldNum" sz="quarter" idx="5"/>
          </p:nvPr>
        </p:nvSpPr>
        <p:spPr/>
        <p:txBody>
          <a:bodyPr/>
          <a:lstStyle/>
          <a:p>
            <a:fld id="{F116C50B-DC6E-9B47-8DE1-21D570F7A1ED}" type="slidenum">
              <a:rPr lang="en-US" smtClean="0"/>
              <a:t>11</a:t>
            </a:fld>
            <a:endParaRPr lang="en-US"/>
          </a:p>
        </p:txBody>
      </p:sp>
    </p:spTree>
    <p:extLst>
      <p:ext uri="{BB962C8B-B14F-4D97-AF65-F5344CB8AC3E}">
        <p14:creationId xmlns:p14="http://schemas.microsoft.com/office/powerpoint/2010/main" val="1153349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68CAC-E538-D4D5-9CED-279FF5E5D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0711B-981D-411F-E964-049271AAEA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3D9DB-B267-10DB-FBBA-B11A9A53B388}"/>
              </a:ext>
            </a:extLst>
          </p:cNvPr>
          <p:cNvSpPr>
            <a:spLocks noGrp="1"/>
          </p:cNvSpPr>
          <p:nvPr>
            <p:ph type="body" idx="1"/>
          </p:nvPr>
        </p:nvSpPr>
        <p:spPr/>
        <p:txBody>
          <a:bodyPr/>
          <a:lstStyle/>
          <a:p>
            <a:r>
              <a:rPr lang="en-US" dirty="0"/>
              <a:t>I had problems with Kaggle data that wasn't reliable, so I had to manually pull and clean the data from BMW's yearly reports. This was in line with what we learnt this semester about checking data sources and making sure the data is good before analyzing it. When it came to coding, I had to use a lot of the preprocessing techniques we learned in class, like fixing formatting problems, turning disorganized columns into an organized format, merging datasets correctly, and dealing with missing or inconsistent values using coercion and type conversion. These stages made it clear how important data preparation is to the analytics process.</a:t>
            </a:r>
          </a:p>
        </p:txBody>
      </p:sp>
      <p:sp>
        <p:nvSpPr>
          <p:cNvPr id="4" name="Slide Number Placeholder 3">
            <a:extLst>
              <a:ext uri="{FF2B5EF4-FFF2-40B4-BE49-F238E27FC236}">
                <a16:creationId xmlns:a16="http://schemas.microsoft.com/office/drawing/2014/main" id="{18418868-A75D-0943-3D59-64A0A185447A}"/>
              </a:ext>
            </a:extLst>
          </p:cNvPr>
          <p:cNvSpPr>
            <a:spLocks noGrp="1"/>
          </p:cNvSpPr>
          <p:nvPr>
            <p:ph type="sldNum" sz="quarter" idx="5"/>
          </p:nvPr>
        </p:nvSpPr>
        <p:spPr/>
        <p:txBody>
          <a:bodyPr/>
          <a:lstStyle/>
          <a:p>
            <a:fld id="{F116C50B-DC6E-9B47-8DE1-21D570F7A1ED}" type="slidenum">
              <a:rPr lang="en-US" smtClean="0"/>
              <a:t>13</a:t>
            </a:fld>
            <a:endParaRPr lang="en-US"/>
          </a:p>
        </p:txBody>
      </p:sp>
    </p:spTree>
    <p:extLst>
      <p:ext uri="{BB962C8B-B14F-4D97-AF65-F5344CB8AC3E}">
        <p14:creationId xmlns:p14="http://schemas.microsoft.com/office/powerpoint/2010/main" val="351688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A5FD9-D6CC-F229-EE2E-D8CBCC659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373CD-B6E1-C302-E339-6C44C0677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030C0D-363F-DE82-7779-7B8504560585}"/>
              </a:ext>
            </a:extLst>
          </p:cNvPr>
          <p:cNvSpPr>
            <a:spLocks noGrp="1"/>
          </p:cNvSpPr>
          <p:nvPr>
            <p:ph type="body" idx="1"/>
          </p:nvPr>
        </p:nvSpPr>
        <p:spPr/>
        <p:txBody>
          <a:bodyPr/>
          <a:lstStyle/>
          <a:p>
            <a:r>
              <a:rPr lang="en-US" dirty="0"/>
              <a:t>In conclusion, BMW's sales growth over the long run is strong. GDP growth helps this performance, but the company's internal strategy and strong brand identification are the main reasons for it. The regression model backs up the growing trend and gives a simple technique to guess how many sales will happen in the future. Using both corporate data and global economic indicators helped us learn a lot about how well BMW was doing.</a:t>
            </a:r>
          </a:p>
        </p:txBody>
      </p:sp>
      <p:sp>
        <p:nvSpPr>
          <p:cNvPr id="4" name="Slide Number Placeholder 3">
            <a:extLst>
              <a:ext uri="{FF2B5EF4-FFF2-40B4-BE49-F238E27FC236}">
                <a16:creationId xmlns:a16="http://schemas.microsoft.com/office/drawing/2014/main" id="{EC9CA748-D765-3177-774C-38AD96536F46}"/>
              </a:ext>
            </a:extLst>
          </p:cNvPr>
          <p:cNvSpPr>
            <a:spLocks noGrp="1"/>
          </p:cNvSpPr>
          <p:nvPr>
            <p:ph type="sldNum" sz="quarter" idx="5"/>
          </p:nvPr>
        </p:nvSpPr>
        <p:spPr/>
        <p:txBody>
          <a:bodyPr/>
          <a:lstStyle/>
          <a:p>
            <a:fld id="{F116C50B-DC6E-9B47-8DE1-21D570F7A1ED}" type="slidenum">
              <a:rPr lang="en-US" smtClean="0"/>
              <a:t>14</a:t>
            </a:fld>
            <a:endParaRPr lang="en-US"/>
          </a:p>
        </p:txBody>
      </p:sp>
    </p:spTree>
    <p:extLst>
      <p:ext uri="{BB962C8B-B14F-4D97-AF65-F5344CB8AC3E}">
        <p14:creationId xmlns:p14="http://schemas.microsoft.com/office/powerpoint/2010/main" val="3408374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8BE22-AA0C-3112-7C0F-15A4D02FD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400080-6DE7-4871-B6B3-4FDC6EEF7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7E523-8ECF-AC34-7885-6BD5F30666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7FAEDE-FE2E-CC9C-3E84-C374390E38EE}"/>
              </a:ext>
            </a:extLst>
          </p:cNvPr>
          <p:cNvSpPr>
            <a:spLocks noGrp="1"/>
          </p:cNvSpPr>
          <p:nvPr>
            <p:ph type="sldNum" sz="quarter" idx="5"/>
          </p:nvPr>
        </p:nvSpPr>
        <p:spPr/>
        <p:txBody>
          <a:bodyPr/>
          <a:lstStyle/>
          <a:p>
            <a:fld id="{F116C50B-DC6E-9B47-8DE1-21D570F7A1ED}" type="slidenum">
              <a:rPr lang="en-US" smtClean="0"/>
              <a:t>15</a:t>
            </a:fld>
            <a:endParaRPr lang="en-US"/>
          </a:p>
        </p:txBody>
      </p:sp>
    </p:spTree>
    <p:extLst>
      <p:ext uri="{BB962C8B-B14F-4D97-AF65-F5344CB8AC3E}">
        <p14:creationId xmlns:p14="http://schemas.microsoft.com/office/powerpoint/2010/main" val="266681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3C012-5824-04F3-CF34-2A9FAB7869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C79AA5-9916-EF2C-6CAB-6DBC639610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E2A659-8F8B-3FB5-FF0F-ABF02232BA1D}"/>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5" name="Footer Placeholder 4">
            <a:extLst>
              <a:ext uri="{FF2B5EF4-FFF2-40B4-BE49-F238E27FC236}">
                <a16:creationId xmlns:a16="http://schemas.microsoft.com/office/drawing/2014/main" id="{FFECBA80-BF58-DFC3-06BE-0CC40A4166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6AA224-8E9F-FA03-232C-33C2DD069365}"/>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1497074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3D822-A566-F975-892B-11DD5FB27B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4D9D55-4D66-C637-DE6E-EBD62A697F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46549-B564-8120-EF5A-C57FC32B52FB}"/>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5" name="Footer Placeholder 4">
            <a:extLst>
              <a:ext uri="{FF2B5EF4-FFF2-40B4-BE49-F238E27FC236}">
                <a16:creationId xmlns:a16="http://schemas.microsoft.com/office/drawing/2014/main" id="{584DE787-5BD0-211A-87B4-FC1DCE031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17BD65-73DF-AE5D-A89D-D0D1A8A419FC}"/>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1226128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01C0-591A-3AB6-ADB9-0817FFBEDF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D1C8BE-C393-703B-E37F-9E3A036D3D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A3D8AB-0BB4-0598-C501-71AADFDF8D04}"/>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5" name="Footer Placeholder 4">
            <a:extLst>
              <a:ext uri="{FF2B5EF4-FFF2-40B4-BE49-F238E27FC236}">
                <a16:creationId xmlns:a16="http://schemas.microsoft.com/office/drawing/2014/main" id="{C633B1A3-590F-1A1A-5648-6CE85A5A1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9426A-3BEF-1BB9-B0DC-34B467FCEEFE}"/>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2382215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EFE35-C95E-E69D-CC16-AF838E9EF4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7F5196-6375-99BB-8616-A4D9476E70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AF91E6-6033-2899-37B8-D75085FAA9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BDF0CC-AA5C-56D1-6C01-01A4F229B920}"/>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6" name="Footer Placeholder 5">
            <a:extLst>
              <a:ext uri="{FF2B5EF4-FFF2-40B4-BE49-F238E27FC236}">
                <a16:creationId xmlns:a16="http://schemas.microsoft.com/office/drawing/2014/main" id="{55D43460-6B5B-7AD5-DC1C-0A29C4F3CC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48731B-BB85-39D4-125D-441582BE9E5C}"/>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4042760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5307D-E73E-7BB6-F73D-E825D8BF10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CA0B45-526E-4CD8-5FA4-5973C932AC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D7AF9E-DB5B-9483-BA92-04E1A0A6A9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D3869C-4AB6-DF0A-7C9E-458C13475F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66FC28-B8C4-0F40-FC2D-9B7B0D3142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C88C87-BC0E-8402-3551-587B08FB2506}"/>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8" name="Footer Placeholder 7">
            <a:extLst>
              <a:ext uri="{FF2B5EF4-FFF2-40B4-BE49-F238E27FC236}">
                <a16:creationId xmlns:a16="http://schemas.microsoft.com/office/drawing/2014/main" id="{A3C83942-81DF-B472-7059-C95A147D98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2D1AEB-2609-B307-019E-428CD25A1AFA}"/>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3108966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93716-0045-BE57-B4DD-82CB91CDF6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638C51-4EB1-E7B1-C515-4E30EA19F314}"/>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4" name="Footer Placeholder 3">
            <a:extLst>
              <a:ext uri="{FF2B5EF4-FFF2-40B4-BE49-F238E27FC236}">
                <a16:creationId xmlns:a16="http://schemas.microsoft.com/office/drawing/2014/main" id="{71BD837B-2742-5282-34B6-B90DDCAE20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9C47D1-CBDC-DACB-4A94-7DC6EE237846}"/>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3362293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4CD74A-E41E-BC21-E027-766548AFCA38}"/>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3" name="Footer Placeholder 2">
            <a:extLst>
              <a:ext uri="{FF2B5EF4-FFF2-40B4-BE49-F238E27FC236}">
                <a16:creationId xmlns:a16="http://schemas.microsoft.com/office/drawing/2014/main" id="{12C6B4A1-098D-F041-2DB7-E493B850F7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66547A0-9A6F-A166-71B3-43CFB8A0842D}"/>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376474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A9A4-1872-EB47-6476-BF08845FBA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08813E-1F8E-6C4D-CC5B-7F864F4D8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2EB9BD-38A0-7029-E23E-EC9B87C86E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B3254A-44A4-AE3E-66B1-AD279869FD58}"/>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6" name="Footer Placeholder 5">
            <a:extLst>
              <a:ext uri="{FF2B5EF4-FFF2-40B4-BE49-F238E27FC236}">
                <a16:creationId xmlns:a16="http://schemas.microsoft.com/office/drawing/2014/main" id="{6C333B99-FF2F-9465-A3CC-4EC42DFE2E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B917A5-52A4-A328-EFFB-82753F66FD9B}"/>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8734994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97FDC-B4FD-BF11-0786-D5464BE2DD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769B3E-DD8B-1084-1978-46DE13143A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7D8070-D967-0E05-CCE6-A88D3C37E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56EE6E-E10D-829A-0BF6-F4118EBE671D}"/>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6" name="Footer Placeholder 5">
            <a:extLst>
              <a:ext uri="{FF2B5EF4-FFF2-40B4-BE49-F238E27FC236}">
                <a16:creationId xmlns:a16="http://schemas.microsoft.com/office/drawing/2014/main" id="{382CFFE7-A2BF-67C8-D384-6C7DEA82BB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97214A-6FED-9262-2B04-6E8CEE333DA3}"/>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9999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B4328-1B15-BB48-497C-8CBCAB57F0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2020BB-22B1-2B54-EF9E-B00E53181B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7F20FC-7D4D-4237-503D-093C6A64AEA8}"/>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5" name="Footer Placeholder 4">
            <a:extLst>
              <a:ext uri="{FF2B5EF4-FFF2-40B4-BE49-F238E27FC236}">
                <a16:creationId xmlns:a16="http://schemas.microsoft.com/office/drawing/2014/main" id="{85B1AEDD-1BE9-F6D0-9034-60B178A9A0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94D31D-EF67-7F08-E684-574BD6D43B1F}"/>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26186847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781CF-050F-2272-545D-B0416FA30B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3D6904-8DAD-D19A-745E-4CC007F845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F6006B-8962-7744-79CA-1990BBFB8449}"/>
              </a:ext>
            </a:extLst>
          </p:cNvPr>
          <p:cNvSpPr>
            <a:spLocks noGrp="1"/>
          </p:cNvSpPr>
          <p:nvPr>
            <p:ph type="dt" sz="half" idx="10"/>
          </p:nvPr>
        </p:nvSpPr>
        <p:spPr/>
        <p:txBody>
          <a:bodyPr/>
          <a:lstStyle/>
          <a:p>
            <a:fld id="{25344B9F-2D3F-0846-8B79-64AC94121811}" type="datetimeFigureOut">
              <a:rPr lang="en-US" smtClean="0"/>
              <a:t>12/7/25</a:t>
            </a:fld>
            <a:endParaRPr lang="en-US"/>
          </a:p>
        </p:txBody>
      </p:sp>
      <p:sp>
        <p:nvSpPr>
          <p:cNvPr id="5" name="Footer Placeholder 4">
            <a:extLst>
              <a:ext uri="{FF2B5EF4-FFF2-40B4-BE49-F238E27FC236}">
                <a16:creationId xmlns:a16="http://schemas.microsoft.com/office/drawing/2014/main" id="{29C0AA90-4BE3-485F-B6EF-C84ABA9FD9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EC3686-BA1A-D457-0B1D-15A59245A94C}"/>
              </a:ext>
            </a:extLst>
          </p:cNvPr>
          <p:cNvSpPr>
            <a:spLocks noGrp="1"/>
          </p:cNvSpPr>
          <p:nvPr>
            <p:ph type="sldNum" sz="quarter" idx="12"/>
          </p:nvPr>
        </p:nvSpPr>
        <p:spPr/>
        <p:txBody>
          <a:bodyPr/>
          <a:lstStyle/>
          <a:p>
            <a:fld id="{9124A260-4B4C-C943-96CE-DB30648198CE}" type="slidenum">
              <a:rPr lang="en-US" smtClean="0"/>
              <a:t>‹#›</a:t>
            </a:fld>
            <a:endParaRPr lang="en-US"/>
          </a:p>
        </p:txBody>
      </p:sp>
    </p:spTree>
    <p:extLst>
      <p:ext uri="{BB962C8B-B14F-4D97-AF65-F5344CB8AC3E}">
        <p14:creationId xmlns:p14="http://schemas.microsoft.com/office/powerpoint/2010/main" val="26163745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113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6709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08610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3443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B5B4DF-9A0F-7717-060C-2F5481AF36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769B35-AAFD-A8EC-0127-697C5CD09C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E1E3A3-4668-CB6A-CA28-1643AFC9AC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344B9F-2D3F-0846-8B79-64AC94121811}" type="datetimeFigureOut">
              <a:rPr lang="en-US" smtClean="0"/>
              <a:t>12/7/25</a:t>
            </a:fld>
            <a:endParaRPr lang="en-US"/>
          </a:p>
        </p:txBody>
      </p:sp>
      <p:sp>
        <p:nvSpPr>
          <p:cNvPr id="5" name="Footer Placeholder 4">
            <a:extLst>
              <a:ext uri="{FF2B5EF4-FFF2-40B4-BE49-F238E27FC236}">
                <a16:creationId xmlns:a16="http://schemas.microsoft.com/office/drawing/2014/main" id="{8CEBD47C-6835-92F4-B1CD-772C4F9951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F28147C-9E3B-728D-BA96-510DD3B1EC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24A260-4B4C-C943-96CE-DB30648198CE}" type="slidenum">
              <a:rPr lang="en-US" smtClean="0"/>
              <a:t>‹#›</a:t>
            </a:fld>
            <a:endParaRPr lang="en-US"/>
          </a:p>
        </p:txBody>
      </p:sp>
    </p:spTree>
    <p:extLst>
      <p:ext uri="{BB962C8B-B14F-4D97-AF65-F5344CB8AC3E}">
        <p14:creationId xmlns:p14="http://schemas.microsoft.com/office/powerpoint/2010/main" val="1593104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hyperlink" Target="https://www.free-powerpoint-templates-design.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9120ED3C-B139-472F-B371-6CE42D65C194}"/>
              </a:ext>
            </a:extLst>
          </p:cNvPr>
          <p:cNvSpPr txBox="1"/>
          <p:nvPr/>
        </p:nvSpPr>
        <p:spPr>
          <a:xfrm>
            <a:off x="17600" y="2444748"/>
            <a:ext cx="12192000" cy="1754326"/>
          </a:xfrm>
          <a:prstGeom prst="rect">
            <a:avLst/>
          </a:prstGeom>
          <a:noFill/>
        </p:spPr>
        <p:txBody>
          <a:bodyPr wrap="square" rtlCol="0" anchor="ctr">
            <a:spAutoFit/>
          </a:bodyPr>
          <a:lstStyle/>
          <a:p>
            <a:pPr algn="ctr"/>
            <a:r>
              <a:rPr lang="en-US" altLang="ko-KR" sz="5400" dirty="0">
                <a:solidFill>
                  <a:schemeClr val="bg1"/>
                </a:solidFill>
                <a:latin typeface="+mj-lt"/>
                <a:cs typeface="Arial" pitchFamily="34" charset="0"/>
              </a:rPr>
              <a:t>BMW Sales and Global GDP: A Comparative Analysis</a:t>
            </a:r>
            <a:endParaRPr lang="ko-KR" altLang="en-US" sz="5400" dirty="0">
              <a:solidFill>
                <a:schemeClr val="bg1"/>
              </a:solidFill>
              <a:latin typeface="+mj-lt"/>
              <a:cs typeface="Arial" pitchFamily="34" charset="0"/>
            </a:endParaRPr>
          </a:p>
        </p:txBody>
      </p:sp>
      <p:sp>
        <p:nvSpPr>
          <p:cNvPr id="11" name="TextBox 10">
            <a:extLst>
              <a:ext uri="{FF2B5EF4-FFF2-40B4-BE49-F238E27FC236}">
                <a16:creationId xmlns:a16="http://schemas.microsoft.com/office/drawing/2014/main" id="{A6A6B4B1-B918-460E-AB3E-98954A7BF2B9}"/>
              </a:ext>
            </a:extLst>
          </p:cNvPr>
          <p:cNvSpPr txBox="1"/>
          <p:nvPr/>
        </p:nvSpPr>
        <p:spPr>
          <a:xfrm>
            <a:off x="0" y="4091874"/>
            <a:ext cx="12192000" cy="379656"/>
          </a:xfrm>
          <a:prstGeom prst="rect">
            <a:avLst/>
          </a:prstGeom>
          <a:noFill/>
        </p:spPr>
        <p:txBody>
          <a:bodyPr wrap="square" rtlCol="0" anchor="ctr">
            <a:spAutoFit/>
          </a:bodyPr>
          <a:lstStyle/>
          <a:p>
            <a:pPr algn="ctr"/>
            <a:r>
              <a:rPr lang="en-US" altLang="ko-KR" sz="1867" dirty="0">
                <a:solidFill>
                  <a:schemeClr val="bg1"/>
                </a:solidFill>
                <a:cs typeface="Arial" pitchFamily="34" charset="0"/>
              </a:rPr>
              <a:t>By Kelvin Rodriguez - IS362</a:t>
            </a:r>
            <a:endParaRPr lang="ko-KR" altLang="en-US" sz="1867" dirty="0">
              <a:solidFill>
                <a:schemeClr val="bg1"/>
              </a:solidFill>
              <a:cs typeface="Arial" pitchFamily="34" charset="0"/>
            </a:endParaRPr>
          </a:p>
        </p:txBody>
      </p:sp>
    </p:spTree>
    <p:extLst>
      <p:ext uri="{BB962C8B-B14F-4D97-AF65-F5344CB8AC3E}">
        <p14:creationId xmlns:p14="http://schemas.microsoft.com/office/powerpoint/2010/main" val="98081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0" y="104658"/>
            <a:ext cx="12192000" cy="923330"/>
          </a:xfrm>
          <a:prstGeom prst="rect">
            <a:avLst/>
          </a:prstGeom>
          <a:noFill/>
        </p:spPr>
        <p:txBody>
          <a:bodyPr wrap="square" rtlCol="0" anchor="ctr">
            <a:spAutoFit/>
          </a:bodyPr>
          <a:lstStyle/>
          <a:p>
            <a:pPr algn="ctr"/>
            <a:r>
              <a:rPr lang="en-US" altLang="ko-KR" sz="5400" dirty="0">
                <a:solidFill>
                  <a:schemeClr val="bg1"/>
                </a:solidFill>
                <a:cs typeface="Arial" pitchFamily="34" charset="0"/>
              </a:rPr>
              <a:t>Agenda</a:t>
            </a:r>
            <a:endParaRPr lang="ko-KR" altLang="en-US" sz="5400" dirty="0">
              <a:solidFill>
                <a:schemeClr val="bg1"/>
              </a:solidFill>
              <a:cs typeface="Arial" pitchFamily="34" charset="0"/>
            </a:endParaRPr>
          </a:p>
        </p:txBody>
      </p:sp>
      <p:grpSp>
        <p:nvGrpSpPr>
          <p:cNvPr id="2" name="그룹 1">
            <a:extLst>
              <a:ext uri="{FF2B5EF4-FFF2-40B4-BE49-F238E27FC236}">
                <a16:creationId xmlns:a16="http://schemas.microsoft.com/office/drawing/2014/main" id="{F106C7E5-9013-4496-8751-73207C3F7FA5}"/>
              </a:ext>
            </a:extLst>
          </p:cNvPr>
          <p:cNvGrpSpPr/>
          <p:nvPr/>
        </p:nvGrpSpPr>
        <p:grpSpPr>
          <a:xfrm>
            <a:off x="610359" y="1653600"/>
            <a:ext cx="5128379" cy="1569660"/>
            <a:chOff x="610359" y="1897440"/>
            <a:chExt cx="5128379" cy="1569660"/>
          </a:xfrm>
        </p:grpSpPr>
        <p:grpSp>
          <p:nvGrpSpPr>
            <p:cNvPr id="5" name="Group 6">
              <a:extLst>
                <a:ext uri="{FF2B5EF4-FFF2-40B4-BE49-F238E27FC236}">
                  <a16:creationId xmlns:a16="http://schemas.microsoft.com/office/drawing/2014/main" id="{037F574A-B71F-4982-8261-91249FD0ED5B}"/>
                </a:ext>
              </a:extLst>
            </p:cNvPr>
            <p:cNvGrpSpPr/>
            <p:nvPr/>
          </p:nvGrpSpPr>
          <p:grpSpPr>
            <a:xfrm>
              <a:off x="2249993" y="2000241"/>
              <a:ext cx="3488745" cy="701278"/>
              <a:chOff x="1797648" y="951079"/>
              <a:chExt cx="3488745" cy="701278"/>
            </a:xfrm>
          </p:grpSpPr>
          <p:sp>
            <p:nvSpPr>
              <p:cNvPr id="6" name="TextBox 5">
                <a:extLst>
                  <a:ext uri="{FF2B5EF4-FFF2-40B4-BE49-F238E27FC236}">
                    <a16:creationId xmlns:a16="http://schemas.microsoft.com/office/drawing/2014/main" id="{35AA73B7-35EF-4ED3-B238-DBE30E4B82EE}"/>
                  </a:ext>
                </a:extLst>
              </p:cNvPr>
              <p:cNvSpPr txBox="1"/>
              <p:nvPr/>
            </p:nvSpPr>
            <p:spPr>
              <a:xfrm>
                <a:off x="1797648" y="951079"/>
                <a:ext cx="3488745" cy="338554"/>
              </a:xfrm>
              <a:prstGeom prst="rect">
                <a:avLst/>
              </a:prstGeom>
              <a:noFill/>
            </p:spPr>
            <p:txBody>
              <a:bodyPr wrap="square" lIns="108000" rIns="108000" rtlCol="0">
                <a:spAutoFit/>
              </a:bodyPr>
              <a:lstStyle/>
              <a:p>
                <a:r>
                  <a:rPr lang="en-GB" altLang="ko-KR" sz="1600" b="1" dirty="0">
                    <a:solidFill>
                      <a:schemeClr val="bg1"/>
                    </a:solidFill>
                    <a:cs typeface="Arial" pitchFamily="34" charset="0"/>
                  </a:rPr>
                  <a:t>Proposal</a:t>
                </a:r>
                <a:endParaRPr lang="ko-KR" altLang="en-US" sz="1600" b="1" dirty="0">
                  <a:solidFill>
                    <a:schemeClr val="bg1"/>
                  </a:solidFill>
                  <a:cs typeface="Arial" pitchFamily="34" charset="0"/>
                </a:endParaRPr>
              </a:p>
            </p:txBody>
          </p:sp>
          <p:sp>
            <p:nvSpPr>
              <p:cNvPr id="7" name="TextBox 6">
                <a:extLst>
                  <a:ext uri="{FF2B5EF4-FFF2-40B4-BE49-F238E27FC236}">
                    <a16:creationId xmlns:a16="http://schemas.microsoft.com/office/drawing/2014/main" id="{E1382AA1-DBC9-4CDE-AD6E-9E768D29770F}"/>
                  </a:ext>
                </a:extLst>
              </p:cNvPr>
              <p:cNvSpPr txBox="1"/>
              <p:nvPr/>
            </p:nvSpPr>
            <p:spPr>
              <a:xfrm>
                <a:off x="2167367" y="1375358"/>
                <a:ext cx="3119026" cy="276999"/>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Introduction</a:t>
                </a:r>
                <a:endParaRPr lang="ko-KR" altLang="en-US" sz="1200" dirty="0">
                  <a:solidFill>
                    <a:schemeClr val="bg1"/>
                  </a:solidFill>
                  <a:cs typeface="Arial" pitchFamily="34" charset="0"/>
                </a:endParaRPr>
              </a:p>
            </p:txBody>
          </p:sp>
        </p:grpSp>
        <p:sp>
          <p:nvSpPr>
            <p:cNvPr id="9" name="TextBox 8">
              <a:extLst>
                <a:ext uri="{FF2B5EF4-FFF2-40B4-BE49-F238E27FC236}">
                  <a16:creationId xmlns:a16="http://schemas.microsoft.com/office/drawing/2014/main" id="{E2D5861F-75DE-456E-9B01-5A531A1EF4A6}"/>
                </a:ext>
              </a:extLst>
            </p:cNvPr>
            <p:cNvSpPr txBox="1"/>
            <p:nvPr/>
          </p:nvSpPr>
          <p:spPr>
            <a:xfrm>
              <a:off x="610359" y="1897440"/>
              <a:ext cx="1642816" cy="1569660"/>
            </a:xfrm>
            <a:prstGeom prst="rect">
              <a:avLst/>
            </a:prstGeom>
            <a:noFill/>
          </p:spPr>
          <p:txBody>
            <a:bodyPr wrap="square" lIns="108000" rIns="108000" rtlCol="0">
              <a:spAutoFit/>
            </a:bodyPr>
            <a:lstStyle/>
            <a:p>
              <a:pPr algn="r"/>
              <a:r>
                <a:rPr lang="en-US" altLang="ko-KR" sz="9600" b="1" dirty="0">
                  <a:solidFill>
                    <a:schemeClr val="bg1"/>
                  </a:solidFill>
                  <a:cs typeface="Arial" pitchFamily="34" charset="0"/>
                </a:rPr>
                <a:t>01</a:t>
              </a:r>
              <a:endParaRPr lang="ko-KR" altLang="en-US" sz="9600" b="1" dirty="0">
                <a:solidFill>
                  <a:schemeClr val="bg1"/>
                </a:solidFill>
                <a:cs typeface="Arial" pitchFamily="34" charset="0"/>
              </a:endParaRPr>
            </a:p>
          </p:txBody>
        </p:sp>
      </p:grpSp>
      <p:grpSp>
        <p:nvGrpSpPr>
          <p:cNvPr id="11" name="그룹 10">
            <a:extLst>
              <a:ext uri="{FF2B5EF4-FFF2-40B4-BE49-F238E27FC236}">
                <a16:creationId xmlns:a16="http://schemas.microsoft.com/office/drawing/2014/main" id="{9AA7F620-C8DC-4F18-A05C-EDF803FE0FE8}"/>
              </a:ext>
            </a:extLst>
          </p:cNvPr>
          <p:cNvGrpSpPr/>
          <p:nvPr/>
        </p:nvGrpSpPr>
        <p:grpSpPr>
          <a:xfrm>
            <a:off x="610359" y="3983143"/>
            <a:ext cx="5128379" cy="1569660"/>
            <a:chOff x="610359" y="1897440"/>
            <a:chExt cx="5128379" cy="1569660"/>
          </a:xfrm>
        </p:grpSpPr>
        <p:grpSp>
          <p:nvGrpSpPr>
            <p:cNvPr id="12" name="Group 6">
              <a:extLst>
                <a:ext uri="{FF2B5EF4-FFF2-40B4-BE49-F238E27FC236}">
                  <a16:creationId xmlns:a16="http://schemas.microsoft.com/office/drawing/2014/main" id="{4CEDAC6E-741A-4A54-AC9A-D18566898FE9}"/>
                </a:ext>
              </a:extLst>
            </p:cNvPr>
            <p:cNvGrpSpPr/>
            <p:nvPr/>
          </p:nvGrpSpPr>
          <p:grpSpPr>
            <a:xfrm>
              <a:off x="2249993" y="2000241"/>
              <a:ext cx="3488745" cy="1032668"/>
              <a:chOff x="1797648" y="951079"/>
              <a:chExt cx="3488745" cy="1032668"/>
            </a:xfrm>
          </p:grpSpPr>
          <p:sp>
            <p:nvSpPr>
              <p:cNvPr id="14" name="TextBox 13">
                <a:extLst>
                  <a:ext uri="{FF2B5EF4-FFF2-40B4-BE49-F238E27FC236}">
                    <a16:creationId xmlns:a16="http://schemas.microsoft.com/office/drawing/2014/main" id="{38168D67-7933-4A99-95AD-BEBD4F0423F4}"/>
                  </a:ext>
                </a:extLst>
              </p:cNvPr>
              <p:cNvSpPr txBox="1"/>
              <p:nvPr/>
            </p:nvSpPr>
            <p:spPr>
              <a:xfrm>
                <a:off x="1797648" y="951079"/>
                <a:ext cx="3488745" cy="338554"/>
              </a:xfrm>
              <a:prstGeom prst="rect">
                <a:avLst/>
              </a:prstGeom>
              <a:noFill/>
            </p:spPr>
            <p:txBody>
              <a:bodyPr wrap="square" lIns="108000" rIns="108000" rtlCol="0">
                <a:spAutoFit/>
              </a:bodyPr>
              <a:lstStyle/>
              <a:p>
                <a:r>
                  <a:rPr lang="en-GB" altLang="ko-KR" sz="1600" b="1" dirty="0">
                    <a:solidFill>
                      <a:schemeClr val="bg1"/>
                    </a:solidFill>
                    <a:cs typeface="Arial" pitchFamily="34" charset="0"/>
                  </a:rPr>
                  <a:t>Data Presentation</a:t>
                </a:r>
                <a:endParaRPr lang="ko-KR" altLang="en-US" sz="1600" b="1" dirty="0">
                  <a:solidFill>
                    <a:schemeClr val="bg1"/>
                  </a:solidFill>
                  <a:cs typeface="Arial" pitchFamily="34" charset="0"/>
                </a:endParaRPr>
              </a:p>
            </p:txBody>
          </p:sp>
          <p:sp>
            <p:nvSpPr>
              <p:cNvPr id="15" name="TextBox 14">
                <a:extLst>
                  <a:ext uri="{FF2B5EF4-FFF2-40B4-BE49-F238E27FC236}">
                    <a16:creationId xmlns:a16="http://schemas.microsoft.com/office/drawing/2014/main" id="{28F871B9-8F04-4BD3-B06B-6606F69828D9}"/>
                  </a:ext>
                </a:extLst>
              </p:cNvPr>
              <p:cNvSpPr txBox="1"/>
              <p:nvPr/>
            </p:nvSpPr>
            <p:spPr>
              <a:xfrm>
                <a:off x="2167367" y="1375358"/>
                <a:ext cx="3119026" cy="276999"/>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BMW Global Sales Trend (2010–2024) </a:t>
                </a:r>
                <a:endParaRPr lang="ko-KR" altLang="en-US" sz="1200" dirty="0">
                  <a:solidFill>
                    <a:schemeClr val="bg1"/>
                  </a:solidFill>
                  <a:cs typeface="Arial" pitchFamily="34" charset="0"/>
                </a:endParaRPr>
              </a:p>
            </p:txBody>
          </p:sp>
          <p:sp>
            <p:nvSpPr>
              <p:cNvPr id="16" name="TextBox 15">
                <a:extLst>
                  <a:ext uri="{FF2B5EF4-FFF2-40B4-BE49-F238E27FC236}">
                    <a16:creationId xmlns:a16="http://schemas.microsoft.com/office/drawing/2014/main" id="{2E93196B-BB1F-4DEA-9F38-1C8E2FEDFC25}"/>
                  </a:ext>
                </a:extLst>
              </p:cNvPr>
              <p:cNvSpPr txBox="1"/>
              <p:nvPr/>
            </p:nvSpPr>
            <p:spPr>
              <a:xfrm>
                <a:off x="2167367" y="1706748"/>
                <a:ext cx="3119026" cy="276999"/>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Global GDP Growth Trend (2010–2024) </a:t>
                </a:r>
                <a:endParaRPr lang="ko-KR" altLang="en-US" sz="1200" dirty="0">
                  <a:solidFill>
                    <a:schemeClr val="bg1"/>
                  </a:solidFill>
                  <a:cs typeface="Arial" pitchFamily="34" charset="0"/>
                </a:endParaRPr>
              </a:p>
            </p:txBody>
          </p:sp>
        </p:grpSp>
        <p:sp>
          <p:nvSpPr>
            <p:cNvPr id="13" name="TextBox 12">
              <a:extLst>
                <a:ext uri="{FF2B5EF4-FFF2-40B4-BE49-F238E27FC236}">
                  <a16:creationId xmlns:a16="http://schemas.microsoft.com/office/drawing/2014/main" id="{1ED4B613-DC23-47F9-848C-CA62A3DFB909}"/>
                </a:ext>
              </a:extLst>
            </p:cNvPr>
            <p:cNvSpPr txBox="1"/>
            <p:nvPr/>
          </p:nvSpPr>
          <p:spPr>
            <a:xfrm>
              <a:off x="610359" y="1897440"/>
              <a:ext cx="1642816" cy="1569660"/>
            </a:xfrm>
            <a:prstGeom prst="rect">
              <a:avLst/>
            </a:prstGeom>
            <a:noFill/>
          </p:spPr>
          <p:txBody>
            <a:bodyPr wrap="square" lIns="108000" rIns="108000" rtlCol="0">
              <a:spAutoFit/>
            </a:bodyPr>
            <a:lstStyle/>
            <a:p>
              <a:pPr algn="r"/>
              <a:r>
                <a:rPr lang="en-US" altLang="ko-KR" sz="9600" b="1" dirty="0">
                  <a:solidFill>
                    <a:schemeClr val="bg1"/>
                  </a:solidFill>
                  <a:cs typeface="Arial" pitchFamily="34" charset="0"/>
                </a:rPr>
                <a:t>02</a:t>
              </a:r>
              <a:endParaRPr lang="ko-KR" altLang="en-US" sz="9600" b="1" dirty="0">
                <a:solidFill>
                  <a:schemeClr val="bg1"/>
                </a:solidFill>
                <a:cs typeface="Arial" pitchFamily="34" charset="0"/>
              </a:endParaRPr>
            </a:p>
          </p:txBody>
        </p:sp>
      </p:grpSp>
      <p:grpSp>
        <p:nvGrpSpPr>
          <p:cNvPr id="26" name="그룹 25">
            <a:extLst>
              <a:ext uri="{FF2B5EF4-FFF2-40B4-BE49-F238E27FC236}">
                <a16:creationId xmlns:a16="http://schemas.microsoft.com/office/drawing/2014/main" id="{D07B5ECE-B5FC-4958-8594-0CA40756AF69}"/>
              </a:ext>
            </a:extLst>
          </p:cNvPr>
          <p:cNvGrpSpPr/>
          <p:nvPr/>
        </p:nvGrpSpPr>
        <p:grpSpPr>
          <a:xfrm>
            <a:off x="6453264" y="1653600"/>
            <a:ext cx="5128379" cy="1759096"/>
            <a:chOff x="610359" y="1897440"/>
            <a:chExt cx="5128379" cy="1759096"/>
          </a:xfrm>
        </p:grpSpPr>
        <p:grpSp>
          <p:nvGrpSpPr>
            <p:cNvPr id="27" name="Group 6">
              <a:extLst>
                <a:ext uri="{FF2B5EF4-FFF2-40B4-BE49-F238E27FC236}">
                  <a16:creationId xmlns:a16="http://schemas.microsoft.com/office/drawing/2014/main" id="{38E43BDB-943B-455A-A231-35351D02B317}"/>
                </a:ext>
              </a:extLst>
            </p:cNvPr>
            <p:cNvGrpSpPr/>
            <p:nvPr/>
          </p:nvGrpSpPr>
          <p:grpSpPr>
            <a:xfrm>
              <a:off x="2249993" y="2000241"/>
              <a:ext cx="3488745" cy="1656295"/>
              <a:chOff x="1797648" y="951079"/>
              <a:chExt cx="3488745" cy="1656295"/>
            </a:xfrm>
          </p:grpSpPr>
          <p:sp>
            <p:nvSpPr>
              <p:cNvPr id="29" name="TextBox 28">
                <a:extLst>
                  <a:ext uri="{FF2B5EF4-FFF2-40B4-BE49-F238E27FC236}">
                    <a16:creationId xmlns:a16="http://schemas.microsoft.com/office/drawing/2014/main" id="{D53E9675-B4F5-4442-9619-C89E059F72BB}"/>
                  </a:ext>
                </a:extLst>
              </p:cNvPr>
              <p:cNvSpPr txBox="1"/>
              <p:nvPr/>
            </p:nvSpPr>
            <p:spPr>
              <a:xfrm>
                <a:off x="1797648" y="951079"/>
                <a:ext cx="3488745" cy="338554"/>
              </a:xfrm>
              <a:prstGeom prst="rect">
                <a:avLst/>
              </a:prstGeom>
              <a:noFill/>
            </p:spPr>
            <p:txBody>
              <a:bodyPr wrap="square" lIns="108000" rIns="108000" rtlCol="0">
                <a:spAutoFit/>
              </a:bodyPr>
              <a:lstStyle/>
              <a:p>
                <a:r>
                  <a:rPr lang="en-GB" altLang="ko-KR" sz="1600" b="1" dirty="0">
                    <a:solidFill>
                      <a:schemeClr val="bg1"/>
                    </a:solidFill>
                    <a:cs typeface="Arial" pitchFamily="34" charset="0"/>
                  </a:rPr>
                  <a:t>Data Analysis</a:t>
                </a:r>
                <a:endParaRPr lang="ko-KR" altLang="en-US" sz="1600" b="1" dirty="0">
                  <a:solidFill>
                    <a:schemeClr val="bg1"/>
                  </a:solidFill>
                  <a:cs typeface="Arial" pitchFamily="34" charset="0"/>
                </a:endParaRPr>
              </a:p>
            </p:txBody>
          </p:sp>
          <p:sp>
            <p:nvSpPr>
              <p:cNvPr id="30" name="TextBox 29">
                <a:extLst>
                  <a:ext uri="{FF2B5EF4-FFF2-40B4-BE49-F238E27FC236}">
                    <a16:creationId xmlns:a16="http://schemas.microsoft.com/office/drawing/2014/main" id="{4CEF90A1-7890-4058-9D90-B5FEB178ED2B}"/>
                  </a:ext>
                </a:extLst>
              </p:cNvPr>
              <p:cNvSpPr txBox="1"/>
              <p:nvPr/>
            </p:nvSpPr>
            <p:spPr>
              <a:xfrm>
                <a:off x="2167367" y="1375358"/>
                <a:ext cx="3119026" cy="369332"/>
              </a:xfrm>
              <a:prstGeom prst="rect">
                <a:avLst/>
              </a:prstGeom>
              <a:noFill/>
            </p:spPr>
            <p:txBody>
              <a:bodyPr wrap="square" rtlCol="0">
                <a:spAutoFit/>
              </a:bodyPr>
              <a:lstStyle>
                <a:defPPr>
                  <a:defRPr lang="en-US"/>
                </a:defPPr>
                <a:lvl1pPr marL="228600" indent="-228600">
                  <a:buFont typeface="Wingdings" panose="05000000000000000000" pitchFamily="2" charset="2"/>
                  <a:buChar char="Ø"/>
                  <a:defRPr sz="1200">
                    <a:solidFill>
                      <a:schemeClr val="bg1"/>
                    </a:solidFill>
                    <a:cs typeface="Arial" pitchFamily="34" charset="0"/>
                  </a:defRPr>
                </a:lvl1pPr>
              </a:lstStyle>
              <a:p>
                <a:r>
                  <a:rPr lang="en-US" dirty="0"/>
                  <a:t>Overview </a:t>
                </a:r>
                <a:endParaRPr lang="ko-KR" altLang="en-US" dirty="0"/>
              </a:p>
            </p:txBody>
          </p:sp>
          <p:sp>
            <p:nvSpPr>
              <p:cNvPr id="31" name="TextBox 30">
                <a:extLst>
                  <a:ext uri="{FF2B5EF4-FFF2-40B4-BE49-F238E27FC236}">
                    <a16:creationId xmlns:a16="http://schemas.microsoft.com/office/drawing/2014/main" id="{DD7AB5B5-26D9-4F31-A30B-905C9DD73A69}"/>
                  </a:ext>
                </a:extLst>
              </p:cNvPr>
              <p:cNvSpPr txBox="1"/>
              <p:nvPr/>
            </p:nvSpPr>
            <p:spPr>
              <a:xfrm>
                <a:off x="2167365" y="1760029"/>
                <a:ext cx="3119026" cy="461665"/>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Relationship Between BMW Sales and Global GDP Growth </a:t>
                </a:r>
                <a:endParaRPr lang="ko-KR" altLang="en-US" sz="1200" dirty="0">
                  <a:solidFill>
                    <a:schemeClr val="bg1"/>
                  </a:solidFill>
                  <a:cs typeface="Arial" pitchFamily="34" charset="0"/>
                </a:endParaRPr>
              </a:p>
            </p:txBody>
          </p:sp>
          <p:sp>
            <p:nvSpPr>
              <p:cNvPr id="32" name="TextBox 31">
                <a:extLst>
                  <a:ext uri="{FF2B5EF4-FFF2-40B4-BE49-F238E27FC236}">
                    <a16:creationId xmlns:a16="http://schemas.microsoft.com/office/drawing/2014/main" id="{80E0CEC7-CDD1-4538-B064-CD6DD462E531}"/>
                  </a:ext>
                </a:extLst>
              </p:cNvPr>
              <p:cNvSpPr txBox="1"/>
              <p:nvPr/>
            </p:nvSpPr>
            <p:spPr>
              <a:xfrm>
                <a:off x="2167365" y="2145709"/>
                <a:ext cx="3119026" cy="461665"/>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Regression Analysis and Future Sales Forecasting</a:t>
                </a:r>
              </a:p>
            </p:txBody>
          </p:sp>
        </p:grpSp>
        <p:sp>
          <p:nvSpPr>
            <p:cNvPr id="28" name="TextBox 27">
              <a:extLst>
                <a:ext uri="{FF2B5EF4-FFF2-40B4-BE49-F238E27FC236}">
                  <a16:creationId xmlns:a16="http://schemas.microsoft.com/office/drawing/2014/main" id="{F296881E-F221-44B9-B422-D96243D92252}"/>
                </a:ext>
              </a:extLst>
            </p:cNvPr>
            <p:cNvSpPr txBox="1"/>
            <p:nvPr/>
          </p:nvSpPr>
          <p:spPr>
            <a:xfrm>
              <a:off x="610359" y="1897440"/>
              <a:ext cx="1642816" cy="1569660"/>
            </a:xfrm>
            <a:prstGeom prst="rect">
              <a:avLst/>
            </a:prstGeom>
            <a:noFill/>
          </p:spPr>
          <p:txBody>
            <a:bodyPr wrap="square" lIns="108000" rIns="108000" rtlCol="0">
              <a:spAutoFit/>
            </a:bodyPr>
            <a:lstStyle/>
            <a:p>
              <a:pPr algn="r"/>
              <a:r>
                <a:rPr lang="en-US" altLang="ko-KR" sz="9600" b="1" dirty="0">
                  <a:solidFill>
                    <a:schemeClr val="bg1"/>
                  </a:solidFill>
                  <a:cs typeface="Arial" pitchFamily="34" charset="0"/>
                </a:rPr>
                <a:t>03</a:t>
              </a:r>
              <a:endParaRPr lang="ko-KR" altLang="en-US" sz="9600" b="1" dirty="0">
                <a:solidFill>
                  <a:schemeClr val="bg1"/>
                </a:solidFill>
                <a:cs typeface="Arial" pitchFamily="34" charset="0"/>
              </a:endParaRPr>
            </a:p>
          </p:txBody>
        </p:sp>
      </p:grpSp>
      <p:grpSp>
        <p:nvGrpSpPr>
          <p:cNvPr id="33" name="그룹 32">
            <a:extLst>
              <a:ext uri="{FF2B5EF4-FFF2-40B4-BE49-F238E27FC236}">
                <a16:creationId xmlns:a16="http://schemas.microsoft.com/office/drawing/2014/main" id="{79D88C19-2DD9-4A11-8F2F-80A125823658}"/>
              </a:ext>
            </a:extLst>
          </p:cNvPr>
          <p:cNvGrpSpPr/>
          <p:nvPr/>
        </p:nvGrpSpPr>
        <p:grpSpPr>
          <a:xfrm>
            <a:off x="6453264" y="3983143"/>
            <a:ext cx="5128379" cy="1569660"/>
            <a:chOff x="610359" y="1897440"/>
            <a:chExt cx="5128379" cy="1569660"/>
          </a:xfrm>
        </p:grpSpPr>
        <p:grpSp>
          <p:nvGrpSpPr>
            <p:cNvPr id="34" name="Group 6">
              <a:extLst>
                <a:ext uri="{FF2B5EF4-FFF2-40B4-BE49-F238E27FC236}">
                  <a16:creationId xmlns:a16="http://schemas.microsoft.com/office/drawing/2014/main" id="{4B28A2B1-293A-43C6-AEAE-B7871B6C64A5}"/>
                </a:ext>
              </a:extLst>
            </p:cNvPr>
            <p:cNvGrpSpPr/>
            <p:nvPr/>
          </p:nvGrpSpPr>
          <p:grpSpPr>
            <a:xfrm>
              <a:off x="2249993" y="2000241"/>
              <a:ext cx="3488745" cy="1032668"/>
              <a:chOff x="1797648" y="951079"/>
              <a:chExt cx="3488745" cy="1032668"/>
            </a:xfrm>
          </p:grpSpPr>
          <p:sp>
            <p:nvSpPr>
              <p:cNvPr id="36" name="TextBox 35">
                <a:extLst>
                  <a:ext uri="{FF2B5EF4-FFF2-40B4-BE49-F238E27FC236}">
                    <a16:creationId xmlns:a16="http://schemas.microsoft.com/office/drawing/2014/main" id="{9BE43F2E-245E-464C-8A8D-82AE5BB41993}"/>
                  </a:ext>
                </a:extLst>
              </p:cNvPr>
              <p:cNvSpPr txBox="1"/>
              <p:nvPr/>
            </p:nvSpPr>
            <p:spPr>
              <a:xfrm>
                <a:off x="1797648" y="951079"/>
                <a:ext cx="3488745" cy="338554"/>
              </a:xfrm>
              <a:prstGeom prst="rect">
                <a:avLst/>
              </a:prstGeom>
              <a:noFill/>
            </p:spPr>
            <p:txBody>
              <a:bodyPr wrap="square" lIns="108000" rIns="108000" rtlCol="0">
                <a:spAutoFit/>
              </a:bodyPr>
              <a:lstStyle/>
              <a:p>
                <a:r>
                  <a:rPr lang="en-GB" altLang="ko-KR" sz="1600" b="1" dirty="0">
                    <a:solidFill>
                      <a:schemeClr val="bg1"/>
                    </a:solidFill>
                    <a:cs typeface="Arial" pitchFamily="34" charset="0"/>
                  </a:rPr>
                  <a:t>Challenges</a:t>
                </a:r>
                <a:endParaRPr lang="ko-KR" altLang="en-US" sz="1600" b="1" dirty="0">
                  <a:solidFill>
                    <a:schemeClr val="bg1"/>
                  </a:solidFill>
                  <a:cs typeface="Arial" pitchFamily="34" charset="0"/>
                </a:endParaRPr>
              </a:p>
            </p:txBody>
          </p:sp>
          <p:sp>
            <p:nvSpPr>
              <p:cNvPr id="37" name="TextBox 36">
                <a:extLst>
                  <a:ext uri="{FF2B5EF4-FFF2-40B4-BE49-F238E27FC236}">
                    <a16:creationId xmlns:a16="http://schemas.microsoft.com/office/drawing/2014/main" id="{AFB322FF-75A2-4E8C-B89C-3336D69F353F}"/>
                  </a:ext>
                </a:extLst>
              </p:cNvPr>
              <p:cNvSpPr txBox="1"/>
              <p:nvPr/>
            </p:nvSpPr>
            <p:spPr>
              <a:xfrm>
                <a:off x="2167367" y="1375358"/>
                <a:ext cx="3119026" cy="276999"/>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Data</a:t>
                </a:r>
                <a:endParaRPr lang="ko-KR" altLang="en-US" sz="1200" dirty="0">
                  <a:solidFill>
                    <a:schemeClr val="bg1"/>
                  </a:solidFill>
                  <a:cs typeface="Arial" pitchFamily="34" charset="0"/>
                </a:endParaRPr>
              </a:p>
            </p:txBody>
          </p:sp>
          <p:sp>
            <p:nvSpPr>
              <p:cNvPr id="38" name="TextBox 37">
                <a:extLst>
                  <a:ext uri="{FF2B5EF4-FFF2-40B4-BE49-F238E27FC236}">
                    <a16:creationId xmlns:a16="http://schemas.microsoft.com/office/drawing/2014/main" id="{DE4F65FD-A0F3-4032-8CF2-D9C0561AE2D6}"/>
                  </a:ext>
                </a:extLst>
              </p:cNvPr>
              <p:cNvSpPr txBox="1"/>
              <p:nvPr/>
            </p:nvSpPr>
            <p:spPr>
              <a:xfrm>
                <a:off x="2167367" y="1706748"/>
                <a:ext cx="3119026" cy="276999"/>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200" dirty="0">
                    <a:solidFill>
                      <a:schemeClr val="bg1"/>
                    </a:solidFill>
                    <a:cs typeface="Arial" pitchFamily="34" charset="0"/>
                  </a:rPr>
                  <a:t>Code</a:t>
                </a:r>
                <a:endParaRPr lang="ko-KR" altLang="en-US" sz="1200" dirty="0">
                  <a:solidFill>
                    <a:schemeClr val="bg1"/>
                  </a:solidFill>
                  <a:cs typeface="Arial" pitchFamily="34" charset="0"/>
                </a:endParaRPr>
              </a:p>
            </p:txBody>
          </p:sp>
        </p:grpSp>
        <p:sp>
          <p:nvSpPr>
            <p:cNvPr id="35" name="TextBox 34">
              <a:extLst>
                <a:ext uri="{FF2B5EF4-FFF2-40B4-BE49-F238E27FC236}">
                  <a16:creationId xmlns:a16="http://schemas.microsoft.com/office/drawing/2014/main" id="{AB293F03-E00B-47AA-8529-CF6A7F671F8B}"/>
                </a:ext>
              </a:extLst>
            </p:cNvPr>
            <p:cNvSpPr txBox="1"/>
            <p:nvPr/>
          </p:nvSpPr>
          <p:spPr>
            <a:xfrm>
              <a:off x="610359" y="1897440"/>
              <a:ext cx="1642816" cy="1569660"/>
            </a:xfrm>
            <a:prstGeom prst="rect">
              <a:avLst/>
            </a:prstGeom>
            <a:noFill/>
          </p:spPr>
          <p:txBody>
            <a:bodyPr wrap="square" lIns="108000" rIns="108000" rtlCol="0">
              <a:spAutoFit/>
            </a:bodyPr>
            <a:lstStyle/>
            <a:p>
              <a:pPr algn="r"/>
              <a:r>
                <a:rPr lang="en-US" altLang="ko-KR" sz="9600" b="1" dirty="0">
                  <a:solidFill>
                    <a:schemeClr val="bg1"/>
                  </a:solidFill>
                  <a:cs typeface="Arial" pitchFamily="34" charset="0"/>
                </a:rPr>
                <a:t>04</a:t>
              </a:r>
              <a:endParaRPr lang="ko-KR" altLang="en-US" sz="9600" b="1" dirty="0">
                <a:solidFill>
                  <a:schemeClr val="bg1"/>
                </a:solidFill>
                <a:cs typeface="Arial" pitchFamily="34" charset="0"/>
              </a:endParaRPr>
            </a:p>
          </p:txBody>
        </p:sp>
      </p:grpSp>
    </p:spTree>
    <p:extLst>
      <p:ext uri="{BB962C8B-B14F-4D97-AF65-F5344CB8AC3E}">
        <p14:creationId xmlns:p14="http://schemas.microsoft.com/office/powerpoint/2010/main" val="3148822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3E0E8578-BD64-4C9C-8967-EC38029FB4BB}"/>
              </a:ext>
            </a:extLst>
          </p:cNvPr>
          <p:cNvSpPr txBox="1"/>
          <p:nvPr/>
        </p:nvSpPr>
        <p:spPr>
          <a:xfrm>
            <a:off x="1" y="2857630"/>
            <a:ext cx="12191998" cy="830997"/>
          </a:xfrm>
          <a:prstGeom prst="rect">
            <a:avLst/>
          </a:prstGeom>
          <a:noFill/>
        </p:spPr>
        <p:txBody>
          <a:bodyPr wrap="square" rtlCol="0" anchor="ctr">
            <a:spAutoFit/>
          </a:bodyPr>
          <a:lstStyle/>
          <a:p>
            <a:pPr algn="ctr"/>
            <a:r>
              <a:rPr lang="en-US" altLang="ko-KR" sz="4800" b="1" dirty="0">
                <a:solidFill>
                  <a:schemeClr val="bg1"/>
                </a:solidFill>
                <a:latin typeface="+mj-lt"/>
                <a:cs typeface="Arial" pitchFamily="34" charset="0"/>
              </a:rPr>
              <a:t>Proposal </a:t>
            </a:r>
            <a:endParaRPr lang="ko-KR" altLang="en-US" sz="4800" b="1" dirty="0">
              <a:solidFill>
                <a:schemeClr val="bg1"/>
              </a:solidFill>
              <a:latin typeface="+mj-lt"/>
              <a:cs typeface="Arial" pitchFamily="34" charset="0"/>
            </a:endParaRPr>
          </a:p>
        </p:txBody>
      </p:sp>
    </p:spTree>
    <p:extLst>
      <p:ext uri="{BB962C8B-B14F-4D97-AF65-F5344CB8AC3E}">
        <p14:creationId xmlns:p14="http://schemas.microsoft.com/office/powerpoint/2010/main" val="36905541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9DCA1-89E2-390D-AA81-FE7EFDA8B43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12C6D92-060D-D526-B616-E475497C1580}"/>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b="1" dirty="0">
                <a:solidFill>
                  <a:schemeClr val="tx1"/>
                </a:solidFill>
              </a:rPr>
              <a:t>What the project is about:</a:t>
            </a:r>
            <a:br>
              <a:rPr lang="en-US" dirty="0">
                <a:solidFill>
                  <a:schemeClr val="tx1"/>
                </a:solidFill>
              </a:rPr>
            </a:br>
            <a:r>
              <a:rPr lang="en-US" dirty="0">
                <a:solidFill>
                  <a:schemeClr val="tx1"/>
                </a:solidFill>
              </a:rPr>
              <a:t>“Analyzing BMW’s global unit sales from 2010–2024 and examining how these trends relate to global GDP growth.”</a:t>
            </a:r>
          </a:p>
          <a:p>
            <a:pPr marL="285750"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r>
              <a:rPr lang="en-US" b="1" dirty="0">
                <a:solidFill>
                  <a:schemeClr val="tx1"/>
                </a:solidFill>
              </a:rPr>
              <a:t>Motivation:</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You are a BMW enthusiast</a:t>
            </a:r>
          </a:p>
          <a:p>
            <a:pPr marL="742950" lvl="1" indent="-285750">
              <a:buFont typeface="Arial" panose="020B0604020202020204" pitchFamily="34" charset="0"/>
              <a:buChar char="•"/>
            </a:pPr>
            <a:r>
              <a:rPr lang="en-US" dirty="0">
                <a:solidFill>
                  <a:schemeClr val="tx1"/>
                </a:solidFill>
              </a:rPr>
              <a:t>Kaggle dataset had inaccuracies</a:t>
            </a:r>
          </a:p>
          <a:p>
            <a:pPr marL="742950" lvl="1" indent="-285750">
              <a:buFont typeface="Arial" panose="020B0604020202020204" pitchFamily="34" charset="0"/>
              <a:buChar char="•"/>
            </a:pPr>
            <a:r>
              <a:rPr lang="en-US" dirty="0">
                <a:solidFill>
                  <a:schemeClr val="tx1"/>
                </a:solidFill>
              </a:rPr>
              <a:t>You collected and verified data from 14+ BMW annual reports</a:t>
            </a:r>
          </a:p>
          <a:p>
            <a:pPr marL="742950" lvl="1"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r>
              <a:rPr lang="en-US" b="1" dirty="0">
                <a:solidFill>
                  <a:schemeClr val="tx1"/>
                </a:solidFill>
              </a:rPr>
              <a:t>Data sources:</a:t>
            </a:r>
            <a:endParaRPr lang="en-US" dirty="0">
              <a:solidFill>
                <a:schemeClr val="tx1"/>
              </a:solidFill>
            </a:endParaRPr>
          </a:p>
          <a:p>
            <a:pPr marL="742950" lvl="1" indent="-285750">
              <a:buFont typeface="Arial" panose="020B0604020202020204" pitchFamily="34" charset="0"/>
              <a:buChar char="•"/>
            </a:pPr>
            <a:r>
              <a:rPr lang="en-US" dirty="0">
                <a:solidFill>
                  <a:schemeClr val="tx1"/>
                </a:solidFill>
              </a:rPr>
              <a:t>Custom BMW dataset (created from official reports)</a:t>
            </a:r>
          </a:p>
          <a:p>
            <a:pPr marL="742950" lvl="1" indent="-285750">
              <a:buFont typeface="Arial" panose="020B0604020202020204" pitchFamily="34" charset="0"/>
              <a:buChar char="•"/>
            </a:pPr>
            <a:r>
              <a:rPr lang="en-US" dirty="0">
                <a:solidFill>
                  <a:schemeClr val="tx1"/>
                </a:solidFill>
              </a:rPr>
              <a:t>World Bank API (global GDP growth)</a:t>
            </a:r>
          </a:p>
          <a:p>
            <a:pPr marL="742950" lvl="1" indent="-285750">
              <a:buFont typeface="Arial" panose="020B0604020202020204" pitchFamily="34" charset="0"/>
              <a:buChar char="•"/>
            </a:pPr>
            <a:endParaRPr lang="en-US" dirty="0">
              <a:solidFill>
                <a:schemeClr val="tx1"/>
              </a:solidFill>
            </a:endParaRPr>
          </a:p>
          <a:p>
            <a:pPr marL="285750" indent="-285750">
              <a:buFont typeface="Arial" panose="020B0604020202020204" pitchFamily="34" charset="0"/>
              <a:buChar char="•"/>
            </a:pPr>
            <a:r>
              <a:rPr lang="en-US" b="1" dirty="0">
                <a:solidFill>
                  <a:schemeClr val="tx1"/>
                </a:solidFill>
              </a:rPr>
              <a:t>Goal:</a:t>
            </a:r>
            <a:br>
              <a:rPr lang="en-US" dirty="0">
                <a:solidFill>
                  <a:schemeClr val="tx1"/>
                </a:solidFill>
              </a:rPr>
            </a:br>
            <a:r>
              <a:rPr lang="en-US" dirty="0">
                <a:solidFill>
                  <a:schemeClr val="tx1"/>
                </a:solidFill>
              </a:rPr>
              <a:t>“Understand sales trends, economic relationships, and generate simple predictions for 2025–2030.”</a:t>
            </a:r>
          </a:p>
          <a:p>
            <a:pPr algn="ctr"/>
            <a:endParaRPr lang="en-US" dirty="0">
              <a:solidFill>
                <a:srgbClr val="FF0000"/>
              </a:solidFill>
            </a:endParaRPr>
          </a:p>
        </p:txBody>
      </p:sp>
      <p:sp>
        <p:nvSpPr>
          <p:cNvPr id="3" name="TextBox 2">
            <a:extLst>
              <a:ext uri="{FF2B5EF4-FFF2-40B4-BE49-F238E27FC236}">
                <a16:creationId xmlns:a16="http://schemas.microsoft.com/office/drawing/2014/main" id="{3DB9B597-9E5D-D8C5-7355-8E1A708D1BB1}"/>
              </a:ext>
            </a:extLst>
          </p:cNvPr>
          <p:cNvSpPr txBox="1"/>
          <p:nvPr/>
        </p:nvSpPr>
        <p:spPr>
          <a:xfrm>
            <a:off x="0" y="797443"/>
            <a:ext cx="9555048" cy="923330"/>
          </a:xfrm>
          <a:prstGeom prst="rect">
            <a:avLst/>
          </a:prstGeom>
          <a:noFill/>
          <a:ln>
            <a:noFill/>
          </a:ln>
        </p:spPr>
        <p:txBody>
          <a:bodyPr wrap="square" rtlCol="0" anchor="ctr">
            <a:spAutoFit/>
          </a:bodyPr>
          <a:lstStyle/>
          <a:p>
            <a:r>
              <a:rPr lang="en-US" sz="5400" dirty="0">
                <a:ln w="0"/>
                <a:effectLst>
                  <a:outerShdw blurRad="38100" dist="19050" dir="2700000" algn="tl" rotWithShape="0">
                    <a:schemeClr val="dk1">
                      <a:alpha val="40000"/>
                    </a:schemeClr>
                  </a:outerShdw>
                </a:effectLst>
              </a:rPr>
              <a:t>Proposal / Introduction</a:t>
            </a:r>
            <a:endParaRPr lang="ko-KR" altLang="en-US" sz="5400" dirty="0">
              <a:ln w="0"/>
              <a:effectLst>
                <a:outerShdw blurRad="38100" dist="19050" dir="2700000" algn="tl" rotWithShape="0">
                  <a:schemeClr val="dk1">
                    <a:alpha val="40000"/>
                  </a:schemeClr>
                </a:outerShdw>
              </a:effectLst>
              <a:latin typeface="+mj-lt"/>
              <a:cs typeface="Arial" pitchFamily="34" charset="0"/>
            </a:endParaRPr>
          </a:p>
        </p:txBody>
      </p:sp>
    </p:spTree>
    <p:extLst>
      <p:ext uri="{BB962C8B-B14F-4D97-AF65-F5344CB8AC3E}">
        <p14:creationId xmlns:p14="http://schemas.microsoft.com/office/powerpoint/2010/main" val="1101121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D8DC9-D212-D44C-C703-7E748CEB592E}"/>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FD51229F-6F2B-9AED-F386-B097270FE0E2}"/>
              </a:ext>
            </a:extLst>
          </p:cNvPr>
          <p:cNvSpPr txBox="1"/>
          <p:nvPr/>
        </p:nvSpPr>
        <p:spPr>
          <a:xfrm>
            <a:off x="1" y="2857630"/>
            <a:ext cx="12191998" cy="830997"/>
          </a:xfrm>
          <a:prstGeom prst="rect">
            <a:avLst/>
          </a:prstGeom>
          <a:noFill/>
        </p:spPr>
        <p:txBody>
          <a:bodyPr wrap="square" rtlCol="0" anchor="ctr">
            <a:spAutoFit/>
          </a:bodyPr>
          <a:lstStyle/>
          <a:p>
            <a:pPr algn="ctr"/>
            <a:r>
              <a:rPr lang="en-US" altLang="ko-KR" sz="4800" b="1" dirty="0">
                <a:solidFill>
                  <a:schemeClr val="bg1"/>
                </a:solidFill>
                <a:latin typeface="+mj-lt"/>
                <a:cs typeface="Arial" pitchFamily="34" charset="0"/>
              </a:rPr>
              <a:t>Data Presentation </a:t>
            </a:r>
            <a:endParaRPr lang="ko-KR" altLang="en-US" sz="4800" b="1" dirty="0">
              <a:solidFill>
                <a:schemeClr val="bg1"/>
              </a:solidFill>
              <a:latin typeface="+mj-lt"/>
              <a:cs typeface="Arial" pitchFamily="34" charset="0"/>
            </a:endParaRPr>
          </a:p>
        </p:txBody>
      </p:sp>
    </p:spTree>
    <p:extLst>
      <p:ext uri="{BB962C8B-B14F-4D97-AF65-F5344CB8AC3E}">
        <p14:creationId xmlns:p14="http://schemas.microsoft.com/office/powerpoint/2010/main" val="1746516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7243A-0D02-617C-0833-F55DB4E818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FDA93C-F487-916E-624C-9F2656EDBE7F}"/>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solidFill>
                <a:schemeClr val="tx1"/>
              </a:solidFill>
            </a:endParaRPr>
          </a:p>
        </p:txBody>
      </p:sp>
      <p:sp>
        <p:nvSpPr>
          <p:cNvPr id="3" name="TextBox 2">
            <a:extLst>
              <a:ext uri="{FF2B5EF4-FFF2-40B4-BE49-F238E27FC236}">
                <a16:creationId xmlns:a16="http://schemas.microsoft.com/office/drawing/2014/main" id="{08BCF892-DA32-F2E5-A151-C41504AF509D}"/>
              </a:ext>
            </a:extLst>
          </p:cNvPr>
          <p:cNvSpPr txBox="1"/>
          <p:nvPr/>
        </p:nvSpPr>
        <p:spPr>
          <a:xfrm>
            <a:off x="-1" y="797443"/>
            <a:ext cx="11429611" cy="923330"/>
          </a:xfrm>
          <a:prstGeom prst="rect">
            <a:avLst/>
          </a:prstGeom>
          <a:noFill/>
          <a:ln>
            <a:noFill/>
          </a:ln>
        </p:spPr>
        <p:txBody>
          <a:bodyPr wrap="square" rtlCol="0" anchor="ctr">
            <a:spAutoFit/>
          </a:bodyPr>
          <a:lstStyle/>
          <a:p>
            <a:r>
              <a:rPr lang="en-US" sz="5400" dirty="0">
                <a:ln w="0"/>
                <a:effectLst>
                  <a:outerShdw blurRad="38100" dist="19050" dir="2700000" algn="tl" rotWithShape="0">
                    <a:schemeClr val="dk1">
                      <a:alpha val="40000"/>
                    </a:schemeClr>
                  </a:outerShdw>
                </a:effectLst>
              </a:rPr>
              <a:t>BMW Global Sales Trend (2010–2024)</a:t>
            </a:r>
            <a:endParaRPr lang="ko-KR" altLang="en-US" sz="5400" dirty="0">
              <a:ln w="0"/>
              <a:effectLst>
                <a:outerShdw blurRad="38100" dist="19050" dir="2700000" algn="tl" rotWithShape="0">
                  <a:schemeClr val="dk1">
                    <a:alpha val="40000"/>
                  </a:schemeClr>
                </a:outerShdw>
              </a:effectLst>
              <a:latin typeface="+mj-lt"/>
              <a:cs typeface="Arial" pitchFamily="34" charset="0"/>
            </a:endParaRPr>
          </a:p>
        </p:txBody>
      </p:sp>
      <p:sp>
        <p:nvSpPr>
          <p:cNvPr id="4" name="TextBox 3">
            <a:extLst>
              <a:ext uri="{FF2B5EF4-FFF2-40B4-BE49-F238E27FC236}">
                <a16:creationId xmlns:a16="http://schemas.microsoft.com/office/drawing/2014/main" id="{E2EBFBCE-D4C5-2BE8-B786-BE4159F9B75F}"/>
              </a:ext>
            </a:extLst>
          </p:cNvPr>
          <p:cNvSpPr txBox="1"/>
          <p:nvPr/>
        </p:nvSpPr>
        <p:spPr>
          <a:xfrm>
            <a:off x="-361507" y="1951671"/>
            <a:ext cx="3274828" cy="3139321"/>
          </a:xfrm>
          <a:prstGeom prst="rect">
            <a:avLst/>
          </a:prstGeom>
          <a:noFill/>
        </p:spPr>
        <p:txBody>
          <a:bodyPr wrap="square" rtlCol="0">
            <a:spAutoFit/>
          </a:bodyPr>
          <a:lstStyle/>
          <a:p>
            <a:pPr marL="742950" lvl="1" indent="-285750">
              <a:buFont typeface="Arial" panose="020B0604020202020204" pitchFamily="34" charset="0"/>
              <a:buChar char="•"/>
            </a:pPr>
            <a:r>
              <a:rPr lang="en-US" dirty="0"/>
              <a:t>Long-term upward trend in global unit sales.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Short-term fluctuations linked to economic and supply-chain factors.</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Strong sales resilience in recent years.</a:t>
            </a:r>
          </a:p>
          <a:p>
            <a:endParaRPr lang="en-US" dirty="0"/>
          </a:p>
        </p:txBody>
      </p:sp>
      <p:pic>
        <p:nvPicPr>
          <p:cNvPr id="6" name="Picture 5" descr="A graph of sales&#10;&#10;AI-generated content may be incorrect.">
            <a:extLst>
              <a:ext uri="{FF2B5EF4-FFF2-40B4-BE49-F238E27FC236}">
                <a16:creationId xmlns:a16="http://schemas.microsoft.com/office/drawing/2014/main" id="{9938BD5B-A61F-62A5-C7BD-EE0C008D1AE8}"/>
              </a:ext>
            </a:extLst>
          </p:cNvPr>
          <p:cNvPicPr>
            <a:picLocks noChangeAspect="1"/>
          </p:cNvPicPr>
          <p:nvPr/>
        </p:nvPicPr>
        <p:blipFill>
          <a:blip r:embed="rId3"/>
          <a:stretch>
            <a:fillRect/>
          </a:stretch>
        </p:blipFill>
        <p:spPr>
          <a:xfrm>
            <a:off x="3439188" y="1831659"/>
            <a:ext cx="7990423" cy="4238107"/>
          </a:xfrm>
          <a:prstGeom prst="rect">
            <a:avLst/>
          </a:prstGeom>
        </p:spPr>
      </p:pic>
    </p:spTree>
    <p:extLst>
      <p:ext uri="{BB962C8B-B14F-4D97-AF65-F5344CB8AC3E}">
        <p14:creationId xmlns:p14="http://schemas.microsoft.com/office/powerpoint/2010/main" val="2710594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55184-8B83-C80E-660C-793AFE1F86A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C9FE25-67E0-0C96-E7A0-D04E26F04F9C}"/>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solidFill>
                <a:schemeClr val="tx1"/>
              </a:solidFill>
            </a:endParaRPr>
          </a:p>
        </p:txBody>
      </p:sp>
      <p:sp>
        <p:nvSpPr>
          <p:cNvPr id="3" name="TextBox 2">
            <a:extLst>
              <a:ext uri="{FF2B5EF4-FFF2-40B4-BE49-F238E27FC236}">
                <a16:creationId xmlns:a16="http://schemas.microsoft.com/office/drawing/2014/main" id="{8955EE59-AC0B-0B50-8E86-17D78223BB90}"/>
              </a:ext>
            </a:extLst>
          </p:cNvPr>
          <p:cNvSpPr txBox="1"/>
          <p:nvPr/>
        </p:nvSpPr>
        <p:spPr>
          <a:xfrm>
            <a:off x="-1" y="797443"/>
            <a:ext cx="11780875" cy="923330"/>
          </a:xfrm>
          <a:prstGeom prst="rect">
            <a:avLst/>
          </a:prstGeom>
          <a:noFill/>
          <a:ln>
            <a:noFill/>
          </a:ln>
        </p:spPr>
        <p:txBody>
          <a:bodyPr wrap="square" rtlCol="0" anchor="ctr">
            <a:spAutoFit/>
          </a:bodyPr>
          <a:lstStyle/>
          <a:p>
            <a:r>
              <a:rPr lang="en-US" sz="5400" dirty="0">
                <a:ln w="0"/>
                <a:effectLst>
                  <a:outerShdw blurRad="38100" dist="19050" dir="2700000" algn="tl" rotWithShape="0">
                    <a:schemeClr val="dk1">
                      <a:alpha val="40000"/>
                    </a:schemeClr>
                  </a:outerShdw>
                </a:effectLst>
              </a:rPr>
              <a:t>Global GDP Growth Trend (2010–2024)</a:t>
            </a:r>
            <a:endParaRPr lang="ko-KR" altLang="en-US" sz="5400" dirty="0">
              <a:ln w="0"/>
              <a:effectLst>
                <a:outerShdw blurRad="38100" dist="19050" dir="2700000" algn="tl" rotWithShape="0">
                  <a:schemeClr val="dk1">
                    <a:alpha val="40000"/>
                  </a:schemeClr>
                </a:outerShdw>
              </a:effectLst>
              <a:latin typeface="+mj-lt"/>
              <a:cs typeface="Arial" pitchFamily="34" charset="0"/>
            </a:endParaRPr>
          </a:p>
        </p:txBody>
      </p:sp>
      <p:sp>
        <p:nvSpPr>
          <p:cNvPr id="4" name="TextBox 3">
            <a:extLst>
              <a:ext uri="{FF2B5EF4-FFF2-40B4-BE49-F238E27FC236}">
                <a16:creationId xmlns:a16="http://schemas.microsoft.com/office/drawing/2014/main" id="{D6C0C974-6078-D2A9-C2DA-81D6AC4DA439}"/>
              </a:ext>
            </a:extLst>
          </p:cNvPr>
          <p:cNvSpPr txBox="1"/>
          <p:nvPr/>
        </p:nvSpPr>
        <p:spPr>
          <a:xfrm>
            <a:off x="164360" y="2174954"/>
            <a:ext cx="3274828" cy="3139321"/>
          </a:xfrm>
          <a:prstGeom prst="rect">
            <a:avLst/>
          </a:prstGeom>
          <a:noFill/>
        </p:spPr>
        <p:txBody>
          <a:bodyPr wrap="square" rtlCol="0">
            <a:spAutoFit/>
          </a:bodyPr>
          <a:lstStyle/>
          <a:p>
            <a:pPr marL="285750" indent="-285750">
              <a:buFont typeface="Arial" panose="020B0604020202020204" pitchFamily="34" charset="0"/>
              <a:buChar char="•"/>
            </a:pPr>
            <a:r>
              <a:rPr lang="en-US" dirty="0"/>
              <a:t>GDP displays cyclical ups and downs.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Economic slowdowns followed by periods of recovery.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Provides global context for understanding BMW sales performance.</a:t>
            </a:r>
          </a:p>
          <a:p>
            <a:endParaRPr lang="en-US" dirty="0"/>
          </a:p>
        </p:txBody>
      </p:sp>
      <p:pic>
        <p:nvPicPr>
          <p:cNvPr id="12" name="Picture 11">
            <a:extLst>
              <a:ext uri="{FF2B5EF4-FFF2-40B4-BE49-F238E27FC236}">
                <a16:creationId xmlns:a16="http://schemas.microsoft.com/office/drawing/2014/main" id="{4883D849-D4FA-F505-4595-08458EDDFDEC}"/>
              </a:ext>
            </a:extLst>
          </p:cNvPr>
          <p:cNvPicPr>
            <a:picLocks noChangeAspect="1"/>
          </p:cNvPicPr>
          <p:nvPr/>
        </p:nvPicPr>
        <p:blipFill>
          <a:blip r:embed="rId3"/>
          <a:stretch>
            <a:fillRect/>
          </a:stretch>
        </p:blipFill>
        <p:spPr>
          <a:xfrm>
            <a:off x="3800046" y="1720773"/>
            <a:ext cx="8031095" cy="4339784"/>
          </a:xfrm>
          <a:prstGeom prst="rect">
            <a:avLst/>
          </a:prstGeom>
        </p:spPr>
      </p:pic>
    </p:spTree>
    <p:extLst>
      <p:ext uri="{BB962C8B-B14F-4D97-AF65-F5344CB8AC3E}">
        <p14:creationId xmlns:p14="http://schemas.microsoft.com/office/powerpoint/2010/main" val="1484474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793DC-C01D-C644-43D1-F68C174F9FC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2F4F5195-6674-F41F-7E32-104597CD2E82}"/>
              </a:ext>
            </a:extLst>
          </p:cNvPr>
          <p:cNvSpPr txBox="1"/>
          <p:nvPr/>
        </p:nvSpPr>
        <p:spPr>
          <a:xfrm>
            <a:off x="1" y="2857630"/>
            <a:ext cx="12191998" cy="830997"/>
          </a:xfrm>
          <a:prstGeom prst="rect">
            <a:avLst/>
          </a:prstGeom>
          <a:noFill/>
        </p:spPr>
        <p:txBody>
          <a:bodyPr wrap="square" rtlCol="0" anchor="ctr">
            <a:spAutoFit/>
          </a:bodyPr>
          <a:lstStyle/>
          <a:p>
            <a:pPr algn="ctr"/>
            <a:r>
              <a:rPr lang="en-US" altLang="ko-KR" sz="4800" b="1" dirty="0">
                <a:solidFill>
                  <a:schemeClr val="bg1"/>
                </a:solidFill>
                <a:latin typeface="+mj-lt"/>
                <a:cs typeface="Arial" pitchFamily="34" charset="0"/>
              </a:rPr>
              <a:t>Data Analysis </a:t>
            </a:r>
            <a:endParaRPr lang="ko-KR" altLang="en-US" sz="4800" b="1" dirty="0">
              <a:solidFill>
                <a:schemeClr val="bg1"/>
              </a:solidFill>
              <a:latin typeface="+mj-lt"/>
              <a:cs typeface="Arial" pitchFamily="34" charset="0"/>
            </a:endParaRPr>
          </a:p>
        </p:txBody>
      </p:sp>
    </p:spTree>
    <p:extLst>
      <p:ext uri="{BB962C8B-B14F-4D97-AF65-F5344CB8AC3E}">
        <p14:creationId xmlns:p14="http://schemas.microsoft.com/office/powerpoint/2010/main" val="31540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3191E-9F4C-61A4-8D0F-0B45715590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A50DDC9-BD5E-38F4-2FA2-8730A988184C}"/>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solidFill>
                <a:schemeClr val="tx1"/>
              </a:solidFill>
            </a:endParaRPr>
          </a:p>
        </p:txBody>
      </p:sp>
      <p:sp>
        <p:nvSpPr>
          <p:cNvPr id="3" name="TextBox 2">
            <a:extLst>
              <a:ext uri="{FF2B5EF4-FFF2-40B4-BE49-F238E27FC236}">
                <a16:creationId xmlns:a16="http://schemas.microsoft.com/office/drawing/2014/main" id="{4F66D263-FABA-6A2B-1864-93F82BD604AF}"/>
              </a:ext>
            </a:extLst>
          </p:cNvPr>
          <p:cNvSpPr txBox="1"/>
          <p:nvPr/>
        </p:nvSpPr>
        <p:spPr>
          <a:xfrm>
            <a:off x="-1" y="797443"/>
            <a:ext cx="11780875" cy="923330"/>
          </a:xfrm>
          <a:prstGeom prst="rect">
            <a:avLst/>
          </a:prstGeom>
          <a:noFill/>
          <a:ln>
            <a:noFill/>
          </a:ln>
        </p:spPr>
        <p:txBody>
          <a:bodyPr wrap="square" rtlCol="0" anchor="ctr">
            <a:spAutoFit/>
          </a:bodyPr>
          <a:lstStyle/>
          <a:p>
            <a:r>
              <a:rPr lang="en-US" sz="5400" dirty="0">
                <a:ln w="0"/>
                <a:effectLst>
                  <a:outerShdw blurRad="38100" dist="19050" dir="2700000" algn="tl" rotWithShape="0">
                    <a:schemeClr val="dk1">
                      <a:alpha val="40000"/>
                    </a:schemeClr>
                  </a:outerShdw>
                </a:effectLst>
              </a:rPr>
              <a:t>BMW Sales vs. Global GDP Growth</a:t>
            </a:r>
            <a:endParaRPr lang="ko-KR" altLang="en-US" sz="5400" dirty="0">
              <a:ln w="0"/>
              <a:effectLst>
                <a:outerShdw blurRad="38100" dist="19050" dir="2700000" algn="tl" rotWithShape="0">
                  <a:schemeClr val="dk1">
                    <a:alpha val="40000"/>
                  </a:schemeClr>
                </a:outerShdw>
              </a:effectLst>
              <a:latin typeface="+mj-lt"/>
              <a:cs typeface="Arial" pitchFamily="34" charset="0"/>
            </a:endParaRPr>
          </a:p>
        </p:txBody>
      </p:sp>
      <p:sp>
        <p:nvSpPr>
          <p:cNvPr id="4" name="TextBox 3">
            <a:extLst>
              <a:ext uri="{FF2B5EF4-FFF2-40B4-BE49-F238E27FC236}">
                <a16:creationId xmlns:a16="http://schemas.microsoft.com/office/drawing/2014/main" id="{75CC5092-5730-DAC3-EE4E-59F3E9A1C6EF}"/>
              </a:ext>
            </a:extLst>
          </p:cNvPr>
          <p:cNvSpPr txBox="1"/>
          <p:nvPr/>
        </p:nvSpPr>
        <p:spPr>
          <a:xfrm>
            <a:off x="164360" y="2174954"/>
            <a:ext cx="3274828" cy="3693319"/>
          </a:xfrm>
          <a:prstGeom prst="rect">
            <a:avLst/>
          </a:prstGeom>
          <a:noFill/>
        </p:spPr>
        <p:txBody>
          <a:bodyPr wrap="square" rtlCol="0">
            <a:spAutoFit/>
          </a:bodyPr>
          <a:lstStyle/>
          <a:p>
            <a:pPr marL="285750" indent="-285750">
              <a:buFont typeface="Arial" panose="020B0604020202020204" pitchFamily="34" charset="0"/>
              <a:buChar char="•"/>
            </a:pPr>
            <a:r>
              <a:rPr lang="en-US" dirty="0"/>
              <a:t>General positive association between economic performance and BMW sales.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Sales show steadier long-term growth than GDP alone.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Brand strategy and product updates also drive sales behavior.</a:t>
            </a:r>
          </a:p>
          <a:p>
            <a:endParaRPr lang="en-US" dirty="0"/>
          </a:p>
        </p:txBody>
      </p:sp>
      <p:pic>
        <p:nvPicPr>
          <p:cNvPr id="5" name="Picture 4">
            <a:extLst>
              <a:ext uri="{FF2B5EF4-FFF2-40B4-BE49-F238E27FC236}">
                <a16:creationId xmlns:a16="http://schemas.microsoft.com/office/drawing/2014/main" id="{30D009CE-52C5-88DD-3E25-E085257BA338}"/>
              </a:ext>
            </a:extLst>
          </p:cNvPr>
          <p:cNvPicPr>
            <a:picLocks noChangeAspect="1"/>
          </p:cNvPicPr>
          <p:nvPr/>
        </p:nvPicPr>
        <p:blipFill>
          <a:blip r:embed="rId3"/>
          <a:stretch>
            <a:fillRect/>
          </a:stretch>
        </p:blipFill>
        <p:spPr>
          <a:xfrm>
            <a:off x="3603547" y="1720773"/>
            <a:ext cx="8399582" cy="4339784"/>
          </a:xfrm>
          <a:prstGeom prst="rect">
            <a:avLst/>
          </a:prstGeom>
        </p:spPr>
      </p:pic>
    </p:spTree>
    <p:extLst>
      <p:ext uri="{BB962C8B-B14F-4D97-AF65-F5344CB8AC3E}">
        <p14:creationId xmlns:p14="http://schemas.microsoft.com/office/powerpoint/2010/main" val="57214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FF818-B6AC-EE3D-94A7-571AFDFFC97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512112E-9C56-27D5-C3E8-3552691591FB}"/>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solidFill>
                <a:schemeClr val="tx1"/>
              </a:solidFill>
            </a:endParaRPr>
          </a:p>
        </p:txBody>
      </p:sp>
      <p:sp>
        <p:nvSpPr>
          <p:cNvPr id="3" name="TextBox 2">
            <a:extLst>
              <a:ext uri="{FF2B5EF4-FFF2-40B4-BE49-F238E27FC236}">
                <a16:creationId xmlns:a16="http://schemas.microsoft.com/office/drawing/2014/main" id="{37711DDB-2EF7-7E19-B231-1A4694CCDF82}"/>
              </a:ext>
            </a:extLst>
          </p:cNvPr>
          <p:cNvSpPr txBox="1"/>
          <p:nvPr/>
        </p:nvSpPr>
        <p:spPr>
          <a:xfrm>
            <a:off x="-1" y="797443"/>
            <a:ext cx="11780875" cy="923330"/>
          </a:xfrm>
          <a:prstGeom prst="rect">
            <a:avLst/>
          </a:prstGeom>
          <a:noFill/>
          <a:ln>
            <a:noFill/>
          </a:ln>
        </p:spPr>
        <p:txBody>
          <a:bodyPr wrap="square" rtlCol="0" anchor="ctr">
            <a:spAutoFit/>
          </a:bodyPr>
          <a:lstStyle/>
          <a:p>
            <a:r>
              <a:rPr lang="en-US" sz="5400" dirty="0">
                <a:ln w="0"/>
                <a:effectLst>
                  <a:outerShdw blurRad="38100" dist="19050" dir="2700000" algn="tl" rotWithShape="0">
                    <a:schemeClr val="dk1">
                      <a:alpha val="40000"/>
                    </a:schemeClr>
                  </a:outerShdw>
                </a:effectLst>
              </a:rPr>
              <a:t>Summary of Trends</a:t>
            </a:r>
            <a:endParaRPr lang="ko-KR" altLang="en-US" sz="5400" dirty="0">
              <a:ln w="0"/>
              <a:effectLst>
                <a:outerShdw blurRad="38100" dist="19050" dir="2700000" algn="tl" rotWithShape="0">
                  <a:schemeClr val="dk1">
                    <a:alpha val="40000"/>
                  </a:schemeClr>
                </a:outerShdw>
              </a:effectLst>
              <a:latin typeface="+mj-lt"/>
              <a:cs typeface="Arial" pitchFamily="34" charset="0"/>
            </a:endParaRPr>
          </a:p>
        </p:txBody>
      </p:sp>
      <p:sp>
        <p:nvSpPr>
          <p:cNvPr id="4" name="TextBox 3">
            <a:extLst>
              <a:ext uri="{FF2B5EF4-FFF2-40B4-BE49-F238E27FC236}">
                <a16:creationId xmlns:a16="http://schemas.microsoft.com/office/drawing/2014/main" id="{1F001EA2-E4CF-986B-0FE9-336413BFA07B}"/>
              </a:ext>
            </a:extLst>
          </p:cNvPr>
          <p:cNvSpPr txBox="1"/>
          <p:nvPr/>
        </p:nvSpPr>
        <p:spPr>
          <a:xfrm>
            <a:off x="116959" y="1972936"/>
            <a:ext cx="2998382" cy="3139321"/>
          </a:xfrm>
          <a:prstGeom prst="rect">
            <a:avLst/>
          </a:prstGeom>
          <a:noFill/>
        </p:spPr>
        <p:txBody>
          <a:bodyPr wrap="square" rtlCol="0">
            <a:spAutoFit/>
          </a:bodyPr>
          <a:lstStyle/>
          <a:p>
            <a:pPr marL="285750" indent="-285750">
              <a:buFont typeface="Arial" panose="020B0604020202020204" pitchFamily="34" charset="0"/>
              <a:buChar char="•"/>
            </a:pPr>
            <a:r>
              <a:rPr lang="en-US" dirty="0"/>
              <a:t>BMW sales rise steadily over time.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GDP growth fluctuates but supports overall demand.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Sales increases are more consistent than GDP cycles.</a:t>
            </a:r>
          </a:p>
          <a:p>
            <a:endParaRPr lang="en-US" dirty="0"/>
          </a:p>
        </p:txBody>
      </p:sp>
      <p:pic>
        <p:nvPicPr>
          <p:cNvPr id="10" name="Picture 9">
            <a:extLst>
              <a:ext uri="{FF2B5EF4-FFF2-40B4-BE49-F238E27FC236}">
                <a16:creationId xmlns:a16="http://schemas.microsoft.com/office/drawing/2014/main" id="{FC07E1DB-A618-D8AB-41F8-FF68B82840CA}"/>
              </a:ext>
            </a:extLst>
          </p:cNvPr>
          <p:cNvPicPr>
            <a:picLocks noChangeAspect="1"/>
          </p:cNvPicPr>
          <p:nvPr/>
        </p:nvPicPr>
        <p:blipFill>
          <a:blip r:embed="rId3"/>
          <a:stretch>
            <a:fillRect/>
          </a:stretch>
        </p:blipFill>
        <p:spPr>
          <a:xfrm>
            <a:off x="8622006" y="2254646"/>
            <a:ext cx="2857611" cy="2857611"/>
          </a:xfrm>
          <a:prstGeom prst="rect">
            <a:avLst/>
          </a:prstGeom>
        </p:spPr>
      </p:pic>
      <p:pic>
        <p:nvPicPr>
          <p:cNvPr id="11" name="Picture 10">
            <a:extLst>
              <a:ext uri="{FF2B5EF4-FFF2-40B4-BE49-F238E27FC236}">
                <a16:creationId xmlns:a16="http://schemas.microsoft.com/office/drawing/2014/main" id="{D95AFF99-E6B1-9286-A3A8-18BF1D72B43D}"/>
              </a:ext>
            </a:extLst>
          </p:cNvPr>
          <p:cNvPicPr>
            <a:picLocks noChangeAspect="1"/>
          </p:cNvPicPr>
          <p:nvPr/>
        </p:nvPicPr>
        <p:blipFill>
          <a:blip r:embed="rId4"/>
          <a:stretch>
            <a:fillRect/>
          </a:stretch>
        </p:blipFill>
        <p:spPr>
          <a:xfrm>
            <a:off x="4209995" y="2057851"/>
            <a:ext cx="3054406" cy="3054406"/>
          </a:xfrm>
          <a:prstGeom prst="rect">
            <a:avLst/>
          </a:prstGeom>
        </p:spPr>
      </p:pic>
    </p:spTree>
    <p:extLst>
      <p:ext uri="{BB962C8B-B14F-4D97-AF65-F5344CB8AC3E}">
        <p14:creationId xmlns:p14="http://schemas.microsoft.com/office/powerpoint/2010/main" val="266225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760C-3CC6-630E-40DC-A352FC5D38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574A57-45F5-1C12-846A-528D40CC6B21}"/>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solidFill>
                <a:schemeClr val="tx1"/>
              </a:solidFill>
            </a:endParaRPr>
          </a:p>
        </p:txBody>
      </p:sp>
      <p:sp>
        <p:nvSpPr>
          <p:cNvPr id="3" name="TextBox 2">
            <a:extLst>
              <a:ext uri="{FF2B5EF4-FFF2-40B4-BE49-F238E27FC236}">
                <a16:creationId xmlns:a16="http://schemas.microsoft.com/office/drawing/2014/main" id="{C88D9E7E-FAE5-AD51-C297-1964038456DF}"/>
              </a:ext>
            </a:extLst>
          </p:cNvPr>
          <p:cNvSpPr txBox="1"/>
          <p:nvPr/>
        </p:nvSpPr>
        <p:spPr>
          <a:xfrm>
            <a:off x="-1" y="843609"/>
            <a:ext cx="12191999" cy="830997"/>
          </a:xfrm>
          <a:prstGeom prst="rect">
            <a:avLst/>
          </a:prstGeom>
          <a:noFill/>
          <a:ln>
            <a:noFill/>
          </a:ln>
        </p:spPr>
        <p:txBody>
          <a:bodyPr wrap="square" rtlCol="0" anchor="ctr">
            <a:spAutoFit/>
          </a:bodyPr>
          <a:lstStyle/>
          <a:p>
            <a:r>
              <a:rPr lang="en-US" sz="4800" dirty="0">
                <a:ln w="0"/>
                <a:effectLst>
                  <a:outerShdw blurRad="38100" dist="19050" dir="2700000" algn="tl" rotWithShape="0">
                    <a:schemeClr val="dk1">
                      <a:alpha val="40000"/>
                    </a:schemeClr>
                  </a:outerShdw>
                </a:effectLst>
              </a:rPr>
              <a:t>Regression Model &amp; Future Sales Forecast</a:t>
            </a:r>
            <a:endParaRPr lang="ko-KR" altLang="en-US" sz="4800" dirty="0">
              <a:ln w="0"/>
              <a:effectLst>
                <a:outerShdw blurRad="38100" dist="19050" dir="2700000" algn="tl" rotWithShape="0">
                  <a:schemeClr val="dk1">
                    <a:alpha val="40000"/>
                  </a:schemeClr>
                </a:outerShdw>
              </a:effectLst>
              <a:latin typeface="+mj-lt"/>
              <a:cs typeface="Arial" pitchFamily="34" charset="0"/>
            </a:endParaRPr>
          </a:p>
        </p:txBody>
      </p:sp>
      <p:sp>
        <p:nvSpPr>
          <p:cNvPr id="4" name="TextBox 3">
            <a:extLst>
              <a:ext uri="{FF2B5EF4-FFF2-40B4-BE49-F238E27FC236}">
                <a16:creationId xmlns:a16="http://schemas.microsoft.com/office/drawing/2014/main" id="{4405A7AE-7656-D5DA-1959-B5049EDA490A}"/>
              </a:ext>
            </a:extLst>
          </p:cNvPr>
          <p:cNvSpPr txBox="1"/>
          <p:nvPr/>
        </p:nvSpPr>
        <p:spPr>
          <a:xfrm>
            <a:off x="228154" y="1887875"/>
            <a:ext cx="4609659" cy="4801314"/>
          </a:xfrm>
          <a:prstGeom prst="rect">
            <a:avLst/>
          </a:prstGeom>
          <a:noFill/>
        </p:spPr>
        <p:txBody>
          <a:bodyPr wrap="square" rtlCol="0">
            <a:spAutoFit/>
          </a:bodyPr>
          <a:lstStyle/>
          <a:p>
            <a:pPr marL="285750" indent="-285750">
              <a:buFont typeface="Arial" panose="020B0604020202020204" pitchFamily="34" charset="0"/>
              <a:buChar char="•"/>
            </a:pPr>
            <a:r>
              <a:rPr lang="en-US" b="1" dirty="0"/>
              <a:t>Model equation summary:</a:t>
            </a:r>
            <a:endParaRPr lang="en-US" dirty="0"/>
          </a:p>
          <a:p>
            <a:pPr marL="742950" lvl="1" indent="-285750">
              <a:buFont typeface="Arial" panose="020B0604020202020204" pitchFamily="34" charset="0"/>
              <a:buChar char="•"/>
            </a:pPr>
            <a:r>
              <a:rPr lang="en-US" dirty="0"/>
              <a:t>+66,164 units per year (strong growth trend)</a:t>
            </a:r>
          </a:p>
          <a:p>
            <a:pPr marL="742950" lvl="1" indent="-285750">
              <a:buFont typeface="Arial" panose="020B0604020202020204" pitchFamily="34" charset="0"/>
              <a:buChar char="•"/>
            </a:pPr>
            <a:r>
              <a:rPr lang="en-US" dirty="0"/>
              <a:t>+5,864 units per 1% GDP growth (moderate effect)</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Interpretation:</a:t>
            </a:r>
            <a:endParaRPr lang="en-US" dirty="0"/>
          </a:p>
          <a:p>
            <a:pPr marL="742950" lvl="1" indent="-285750">
              <a:buFont typeface="Arial" panose="020B0604020202020204" pitchFamily="34" charset="0"/>
              <a:buChar char="•"/>
            </a:pPr>
            <a:r>
              <a:rPr lang="en-US" dirty="0"/>
              <a:t>Time is the strongest predictor of BMW sales.</a:t>
            </a:r>
          </a:p>
          <a:p>
            <a:pPr marL="742950" lvl="1" indent="-285750">
              <a:buFont typeface="Arial" panose="020B0604020202020204" pitchFamily="34" charset="0"/>
              <a:buChar char="•"/>
            </a:pPr>
            <a:r>
              <a:rPr lang="en-US" dirty="0"/>
              <a:t>GDP growth contributes but with smaller influence.</a:t>
            </a:r>
          </a:p>
          <a:p>
            <a:pPr lvl="1"/>
            <a:endParaRPr lang="en-US" dirty="0"/>
          </a:p>
          <a:p>
            <a:pPr marL="285750" indent="-285750">
              <a:buFont typeface="Arial" panose="020B0604020202020204" pitchFamily="34" charset="0"/>
              <a:buChar char="•"/>
            </a:pPr>
            <a:r>
              <a:rPr lang="en-US" b="1" dirty="0"/>
              <a:t>Prediction table or sample numbers:</a:t>
            </a:r>
            <a:endParaRPr lang="en-US" dirty="0"/>
          </a:p>
          <a:p>
            <a:pPr marL="742950" lvl="1" indent="-285750">
              <a:buFont typeface="Arial" panose="020B0604020202020204" pitchFamily="34" charset="0"/>
              <a:buChar char="•"/>
            </a:pPr>
            <a:r>
              <a:rPr lang="en-US" dirty="0"/>
              <a:t>Forecast: ~2.44M units in 2025 → ~2.78M in 2030 (assuming stable GDP growth).</a:t>
            </a:r>
          </a:p>
          <a:p>
            <a:endParaRPr lang="en-US" dirty="0"/>
          </a:p>
        </p:txBody>
      </p:sp>
      <p:pic>
        <p:nvPicPr>
          <p:cNvPr id="7" name="Picture 6">
            <a:extLst>
              <a:ext uri="{FF2B5EF4-FFF2-40B4-BE49-F238E27FC236}">
                <a16:creationId xmlns:a16="http://schemas.microsoft.com/office/drawing/2014/main" id="{830E9CC8-7017-49C8-BF72-61B5B33FAD15}"/>
              </a:ext>
            </a:extLst>
          </p:cNvPr>
          <p:cNvPicPr>
            <a:picLocks noChangeAspect="1"/>
          </p:cNvPicPr>
          <p:nvPr/>
        </p:nvPicPr>
        <p:blipFill>
          <a:blip r:embed="rId3"/>
          <a:stretch>
            <a:fillRect/>
          </a:stretch>
        </p:blipFill>
        <p:spPr>
          <a:xfrm>
            <a:off x="5342973" y="2295835"/>
            <a:ext cx="6343867" cy="311253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Tree>
    <p:extLst>
      <p:ext uri="{BB962C8B-B14F-4D97-AF65-F5344CB8AC3E}">
        <p14:creationId xmlns:p14="http://schemas.microsoft.com/office/powerpoint/2010/main" val="1824963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F59E3-CFCF-D441-E36F-402B8E775A4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05E6ED53-D480-A20E-D678-9BB57C38FC7B}"/>
              </a:ext>
            </a:extLst>
          </p:cNvPr>
          <p:cNvSpPr txBox="1"/>
          <p:nvPr/>
        </p:nvSpPr>
        <p:spPr>
          <a:xfrm>
            <a:off x="1" y="2857630"/>
            <a:ext cx="12191998" cy="830997"/>
          </a:xfrm>
          <a:prstGeom prst="rect">
            <a:avLst/>
          </a:prstGeom>
          <a:noFill/>
        </p:spPr>
        <p:txBody>
          <a:bodyPr wrap="square" rtlCol="0" anchor="ctr">
            <a:spAutoFit/>
          </a:bodyPr>
          <a:lstStyle/>
          <a:p>
            <a:pPr algn="ctr"/>
            <a:r>
              <a:rPr lang="en-US" altLang="ko-KR" sz="4800" b="1" dirty="0">
                <a:solidFill>
                  <a:schemeClr val="bg1"/>
                </a:solidFill>
                <a:latin typeface="+mj-lt"/>
                <a:cs typeface="Arial" pitchFamily="34" charset="0"/>
              </a:rPr>
              <a:t>Challenges</a:t>
            </a:r>
            <a:endParaRPr lang="ko-KR" altLang="en-US" sz="4800" b="1" dirty="0">
              <a:solidFill>
                <a:schemeClr val="bg1"/>
              </a:solidFill>
              <a:latin typeface="+mj-lt"/>
              <a:cs typeface="Arial" pitchFamily="34" charset="0"/>
            </a:endParaRPr>
          </a:p>
        </p:txBody>
      </p:sp>
    </p:spTree>
    <p:extLst>
      <p:ext uri="{BB962C8B-B14F-4D97-AF65-F5344CB8AC3E}">
        <p14:creationId xmlns:p14="http://schemas.microsoft.com/office/powerpoint/2010/main" val="3086818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3E350-2134-547A-0AD9-BEFDEBDF9A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69CFF08-3961-212A-6F6C-3D5D0B333000}"/>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solidFill>
                <a:schemeClr val="tx1"/>
              </a:solidFill>
            </a:endParaRPr>
          </a:p>
        </p:txBody>
      </p:sp>
      <p:sp>
        <p:nvSpPr>
          <p:cNvPr id="3" name="TextBox 2">
            <a:extLst>
              <a:ext uri="{FF2B5EF4-FFF2-40B4-BE49-F238E27FC236}">
                <a16:creationId xmlns:a16="http://schemas.microsoft.com/office/drawing/2014/main" id="{15C2CB2B-16AC-B6F5-6FE5-7EF9AEEC79AC}"/>
              </a:ext>
            </a:extLst>
          </p:cNvPr>
          <p:cNvSpPr txBox="1"/>
          <p:nvPr/>
        </p:nvSpPr>
        <p:spPr>
          <a:xfrm>
            <a:off x="-1" y="797443"/>
            <a:ext cx="11780875" cy="923330"/>
          </a:xfrm>
          <a:prstGeom prst="rect">
            <a:avLst/>
          </a:prstGeom>
          <a:noFill/>
          <a:ln>
            <a:noFill/>
          </a:ln>
        </p:spPr>
        <p:txBody>
          <a:bodyPr wrap="square" rtlCol="0" anchor="ctr">
            <a:spAutoFit/>
          </a:bodyPr>
          <a:lstStyle/>
          <a:p>
            <a:r>
              <a:rPr lang="en-US" sz="5400" dirty="0">
                <a:ln w="0"/>
                <a:effectLst>
                  <a:outerShdw blurRad="38100" dist="19050" dir="2700000" algn="tl" rotWithShape="0">
                    <a:schemeClr val="dk1">
                      <a:alpha val="40000"/>
                    </a:schemeClr>
                  </a:outerShdw>
                </a:effectLst>
              </a:rPr>
              <a:t>Project Challenges</a:t>
            </a:r>
            <a:endParaRPr lang="ko-KR" altLang="en-US" sz="5400" dirty="0">
              <a:ln w="0"/>
              <a:effectLst>
                <a:outerShdw blurRad="38100" dist="19050" dir="2700000" algn="tl" rotWithShape="0">
                  <a:schemeClr val="dk1">
                    <a:alpha val="40000"/>
                  </a:schemeClr>
                </a:outerShdw>
              </a:effectLst>
              <a:latin typeface="+mj-lt"/>
              <a:cs typeface="Arial" pitchFamily="34" charset="0"/>
            </a:endParaRPr>
          </a:p>
        </p:txBody>
      </p:sp>
      <p:sp>
        <p:nvSpPr>
          <p:cNvPr id="4" name="TextBox 3">
            <a:extLst>
              <a:ext uri="{FF2B5EF4-FFF2-40B4-BE49-F238E27FC236}">
                <a16:creationId xmlns:a16="http://schemas.microsoft.com/office/drawing/2014/main" id="{4C913FA2-04DF-F767-9AEE-682A3A914FE4}"/>
              </a:ext>
            </a:extLst>
          </p:cNvPr>
          <p:cNvSpPr txBox="1"/>
          <p:nvPr/>
        </p:nvSpPr>
        <p:spPr>
          <a:xfrm>
            <a:off x="164359" y="2174954"/>
            <a:ext cx="5492161" cy="3693319"/>
          </a:xfrm>
          <a:prstGeom prst="rect">
            <a:avLst/>
          </a:prstGeom>
          <a:noFill/>
        </p:spPr>
        <p:txBody>
          <a:bodyPr wrap="square" rtlCol="0">
            <a:spAutoFit/>
          </a:bodyPr>
          <a:lstStyle/>
          <a:p>
            <a:pPr marL="285750" indent="-285750">
              <a:buFont typeface="Arial" panose="020B0604020202020204" pitchFamily="34" charset="0"/>
              <a:buChar char="•"/>
            </a:pPr>
            <a:r>
              <a:rPr lang="en-US" dirty="0"/>
              <a:t> </a:t>
            </a:r>
            <a:r>
              <a:rPr lang="en-US" b="1" dirty="0"/>
              <a:t>Data Challenges:</a:t>
            </a:r>
            <a:endParaRPr lang="en-US" dirty="0"/>
          </a:p>
          <a:p>
            <a:pPr marL="742950" lvl="1" indent="-285750">
              <a:buFont typeface="Arial" panose="020B0604020202020204" pitchFamily="34" charset="0"/>
              <a:buChar char="•"/>
            </a:pPr>
            <a:r>
              <a:rPr lang="en-US" dirty="0"/>
              <a:t>Inaccurate Kaggle dataset</a:t>
            </a:r>
          </a:p>
          <a:p>
            <a:pPr marL="742950" lvl="1" indent="-285750">
              <a:buFont typeface="Arial" panose="020B0604020202020204" pitchFamily="34" charset="0"/>
              <a:buChar char="•"/>
            </a:pPr>
            <a:r>
              <a:rPr lang="en-US" dirty="0"/>
              <a:t>Manual extraction from 14+ BMW annual reports</a:t>
            </a:r>
          </a:p>
          <a:p>
            <a:pPr marL="742950" lvl="1" indent="-285750">
              <a:buFont typeface="Arial" panose="020B0604020202020204" pitchFamily="34" charset="0"/>
              <a:buChar char="•"/>
            </a:pPr>
            <a:r>
              <a:rPr lang="en-US" dirty="0"/>
              <a:t>Cleaning untidy data into a usable structured format</a:t>
            </a:r>
          </a:p>
          <a:p>
            <a:pPr marL="742950" lvl="1"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Code Challenges:</a:t>
            </a:r>
            <a:endParaRPr lang="en-US" dirty="0"/>
          </a:p>
          <a:p>
            <a:pPr marL="742950" lvl="1" indent="-285750">
              <a:buFont typeface="Arial" panose="020B0604020202020204" pitchFamily="34" charset="0"/>
              <a:buChar char="•"/>
            </a:pPr>
            <a:r>
              <a:rPr lang="en-US" dirty="0"/>
              <a:t>Encoding issues</a:t>
            </a:r>
          </a:p>
          <a:p>
            <a:pPr marL="742950" lvl="1" indent="-285750">
              <a:buFont typeface="Arial" panose="020B0604020202020204" pitchFamily="34" charset="0"/>
              <a:buChar char="•"/>
            </a:pPr>
            <a:r>
              <a:rPr lang="en-US" dirty="0"/>
              <a:t>Converting year columns</a:t>
            </a:r>
          </a:p>
          <a:p>
            <a:pPr marL="742950" lvl="1" indent="-285750">
              <a:buFont typeface="Arial" panose="020B0604020202020204" pitchFamily="34" charset="0"/>
              <a:buChar char="•"/>
            </a:pPr>
            <a:r>
              <a:rPr lang="en-US" dirty="0"/>
              <a:t>Merging datasets</a:t>
            </a:r>
          </a:p>
          <a:p>
            <a:pPr marL="742950" lvl="1" indent="-285750">
              <a:buFont typeface="Arial" panose="020B0604020202020204" pitchFamily="34" charset="0"/>
              <a:buChar char="•"/>
            </a:pPr>
            <a:r>
              <a:rPr lang="en-US" dirty="0"/>
              <a:t>Fixing numeric formatting and NA types</a:t>
            </a:r>
          </a:p>
          <a:p>
            <a:endParaRPr lang="en-US" dirty="0"/>
          </a:p>
        </p:txBody>
      </p:sp>
      <p:pic>
        <p:nvPicPr>
          <p:cNvPr id="6" name="Picture 5">
            <a:extLst>
              <a:ext uri="{FF2B5EF4-FFF2-40B4-BE49-F238E27FC236}">
                <a16:creationId xmlns:a16="http://schemas.microsoft.com/office/drawing/2014/main" id="{300A1EC5-608C-5FB2-55B2-9B5768458830}"/>
              </a:ext>
            </a:extLst>
          </p:cNvPr>
          <p:cNvPicPr>
            <a:picLocks noChangeAspect="1"/>
          </p:cNvPicPr>
          <p:nvPr/>
        </p:nvPicPr>
        <p:blipFill>
          <a:blip r:embed="rId3"/>
          <a:stretch>
            <a:fillRect/>
          </a:stretch>
        </p:blipFill>
        <p:spPr>
          <a:xfrm>
            <a:off x="6863906" y="1720773"/>
            <a:ext cx="4120707" cy="4120707"/>
          </a:xfrm>
          <a:prstGeom prst="rect">
            <a:avLst/>
          </a:prstGeom>
        </p:spPr>
      </p:pic>
    </p:spTree>
    <p:extLst>
      <p:ext uri="{BB962C8B-B14F-4D97-AF65-F5344CB8AC3E}">
        <p14:creationId xmlns:p14="http://schemas.microsoft.com/office/powerpoint/2010/main" val="2950394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AAAF6-E5EC-B419-00D7-15856E33C4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3F8032-0A88-EC54-E0FA-0552980FBA7A}"/>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solidFill>
                <a:schemeClr val="tx1"/>
              </a:solidFill>
            </a:endParaRPr>
          </a:p>
        </p:txBody>
      </p:sp>
      <p:sp>
        <p:nvSpPr>
          <p:cNvPr id="3" name="TextBox 2">
            <a:extLst>
              <a:ext uri="{FF2B5EF4-FFF2-40B4-BE49-F238E27FC236}">
                <a16:creationId xmlns:a16="http://schemas.microsoft.com/office/drawing/2014/main" id="{E923CEC3-1A1F-6B63-117A-2A6EEB564E16}"/>
              </a:ext>
            </a:extLst>
          </p:cNvPr>
          <p:cNvSpPr txBox="1"/>
          <p:nvPr/>
        </p:nvSpPr>
        <p:spPr>
          <a:xfrm>
            <a:off x="-1" y="797443"/>
            <a:ext cx="11780875" cy="923330"/>
          </a:xfrm>
          <a:prstGeom prst="rect">
            <a:avLst/>
          </a:prstGeom>
          <a:noFill/>
          <a:ln>
            <a:noFill/>
          </a:ln>
        </p:spPr>
        <p:txBody>
          <a:bodyPr wrap="square" rtlCol="0" anchor="ctr">
            <a:spAutoFit/>
          </a:bodyPr>
          <a:lstStyle/>
          <a:p>
            <a:r>
              <a:rPr lang="en-US" sz="5400" dirty="0">
                <a:ln w="0"/>
                <a:effectLst>
                  <a:outerShdw blurRad="38100" dist="19050" dir="2700000" algn="tl" rotWithShape="0">
                    <a:schemeClr val="dk1">
                      <a:alpha val="40000"/>
                    </a:schemeClr>
                  </a:outerShdw>
                </a:effectLst>
              </a:rPr>
              <a:t>Conclusion</a:t>
            </a:r>
            <a:endParaRPr lang="ko-KR" altLang="en-US" sz="5400" dirty="0">
              <a:ln w="0"/>
              <a:effectLst>
                <a:outerShdw blurRad="38100" dist="19050" dir="2700000" algn="tl" rotWithShape="0">
                  <a:schemeClr val="dk1">
                    <a:alpha val="40000"/>
                  </a:schemeClr>
                </a:outerShdw>
              </a:effectLst>
              <a:latin typeface="+mj-lt"/>
              <a:cs typeface="Arial" pitchFamily="34" charset="0"/>
            </a:endParaRPr>
          </a:p>
        </p:txBody>
      </p:sp>
      <p:sp>
        <p:nvSpPr>
          <p:cNvPr id="4" name="TextBox 3">
            <a:extLst>
              <a:ext uri="{FF2B5EF4-FFF2-40B4-BE49-F238E27FC236}">
                <a16:creationId xmlns:a16="http://schemas.microsoft.com/office/drawing/2014/main" id="{37E076A2-CF26-0D07-6A70-E08F06DC5876}"/>
              </a:ext>
            </a:extLst>
          </p:cNvPr>
          <p:cNvSpPr txBox="1"/>
          <p:nvPr/>
        </p:nvSpPr>
        <p:spPr>
          <a:xfrm>
            <a:off x="164360" y="2174954"/>
            <a:ext cx="4971166" cy="3139321"/>
          </a:xfrm>
          <a:prstGeom prst="rect">
            <a:avLst/>
          </a:prstGeom>
          <a:noFill/>
        </p:spPr>
        <p:txBody>
          <a:bodyPr wrap="square" rtlCol="0">
            <a:spAutoFit/>
          </a:bodyPr>
          <a:lstStyle/>
          <a:p>
            <a:pPr marL="285750" indent="-285750">
              <a:buFont typeface="Arial" panose="020B0604020202020204" pitchFamily="34" charset="0"/>
              <a:buChar char="•"/>
            </a:pPr>
            <a:r>
              <a:rPr lang="en-US" dirty="0"/>
              <a:t>BMW shows strong long-term sales growth.</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GDP growth supports sales but is not the main driver.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Regression model confirms upward trend and provides basic forecasts.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Combining company data with economic indicators adds valuable insight.</a:t>
            </a:r>
          </a:p>
          <a:p>
            <a:endParaRPr lang="en-US" dirty="0"/>
          </a:p>
        </p:txBody>
      </p:sp>
      <p:pic>
        <p:nvPicPr>
          <p:cNvPr id="6" name="Picture 5">
            <a:extLst>
              <a:ext uri="{FF2B5EF4-FFF2-40B4-BE49-F238E27FC236}">
                <a16:creationId xmlns:a16="http://schemas.microsoft.com/office/drawing/2014/main" id="{9F8EBEBE-2F3A-9167-80DA-95719A2FCD1E}"/>
              </a:ext>
            </a:extLst>
          </p:cNvPr>
          <p:cNvPicPr>
            <a:picLocks noChangeAspect="1"/>
          </p:cNvPicPr>
          <p:nvPr/>
        </p:nvPicPr>
        <p:blipFill>
          <a:blip r:embed="rId3"/>
          <a:stretch>
            <a:fillRect/>
          </a:stretch>
        </p:blipFill>
        <p:spPr>
          <a:xfrm>
            <a:off x="6756399" y="1518753"/>
            <a:ext cx="4099441" cy="4099441"/>
          </a:xfrm>
          <a:prstGeom prst="rect">
            <a:avLst/>
          </a:prstGeom>
        </p:spPr>
      </p:pic>
    </p:spTree>
    <p:extLst>
      <p:ext uri="{BB962C8B-B14F-4D97-AF65-F5344CB8AC3E}">
        <p14:creationId xmlns:p14="http://schemas.microsoft.com/office/powerpoint/2010/main" val="899656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5A771-98F3-9421-A1BB-24786FF992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7981506-BEF2-E0D2-C409-0E6B3156F745}"/>
              </a:ext>
            </a:extLst>
          </p:cNvPr>
          <p:cNvSpPr/>
          <p:nvPr/>
        </p:nvSpPr>
        <p:spPr>
          <a:xfrm>
            <a:off x="1" y="797443"/>
            <a:ext cx="12191999" cy="60605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endParaRPr lang="en-US" dirty="0">
              <a:solidFill>
                <a:schemeClr val="tx1"/>
              </a:solidFill>
            </a:endParaRPr>
          </a:p>
        </p:txBody>
      </p:sp>
      <p:sp>
        <p:nvSpPr>
          <p:cNvPr id="3" name="TextBox 2">
            <a:extLst>
              <a:ext uri="{FF2B5EF4-FFF2-40B4-BE49-F238E27FC236}">
                <a16:creationId xmlns:a16="http://schemas.microsoft.com/office/drawing/2014/main" id="{D1B24C2E-E1DA-ED8D-A61C-132C81A12061}"/>
              </a:ext>
            </a:extLst>
          </p:cNvPr>
          <p:cNvSpPr txBox="1"/>
          <p:nvPr/>
        </p:nvSpPr>
        <p:spPr>
          <a:xfrm>
            <a:off x="-1" y="797443"/>
            <a:ext cx="11780875" cy="923330"/>
          </a:xfrm>
          <a:prstGeom prst="rect">
            <a:avLst/>
          </a:prstGeom>
          <a:noFill/>
          <a:ln>
            <a:noFill/>
          </a:ln>
        </p:spPr>
        <p:txBody>
          <a:bodyPr wrap="square" rtlCol="0" anchor="ctr">
            <a:spAutoFit/>
          </a:bodyPr>
          <a:lstStyle/>
          <a:p>
            <a:r>
              <a:rPr lang="en-US" sz="5400" dirty="0">
                <a:ln w="0"/>
                <a:effectLst>
                  <a:outerShdw blurRad="38100" dist="19050" dir="2700000" algn="tl" rotWithShape="0">
                    <a:schemeClr val="dk1">
                      <a:alpha val="40000"/>
                    </a:schemeClr>
                  </a:outerShdw>
                </a:effectLst>
              </a:rPr>
              <a:t>References</a:t>
            </a:r>
            <a:endParaRPr lang="ko-KR" altLang="en-US" sz="5400" dirty="0">
              <a:ln w="0"/>
              <a:effectLst>
                <a:outerShdw blurRad="38100" dist="19050" dir="2700000" algn="tl" rotWithShape="0">
                  <a:schemeClr val="dk1">
                    <a:alpha val="40000"/>
                  </a:schemeClr>
                </a:outerShdw>
              </a:effectLst>
              <a:latin typeface="+mj-lt"/>
              <a:cs typeface="Arial" pitchFamily="34" charset="0"/>
            </a:endParaRPr>
          </a:p>
        </p:txBody>
      </p:sp>
      <p:sp>
        <p:nvSpPr>
          <p:cNvPr id="4" name="TextBox 3">
            <a:extLst>
              <a:ext uri="{FF2B5EF4-FFF2-40B4-BE49-F238E27FC236}">
                <a16:creationId xmlns:a16="http://schemas.microsoft.com/office/drawing/2014/main" id="{085CFCE7-1EB5-B3B5-61F2-B1A3CF1620B4}"/>
              </a:ext>
            </a:extLst>
          </p:cNvPr>
          <p:cNvSpPr txBox="1"/>
          <p:nvPr/>
        </p:nvSpPr>
        <p:spPr>
          <a:xfrm>
            <a:off x="164359" y="2174954"/>
            <a:ext cx="10415035" cy="2862322"/>
          </a:xfrm>
          <a:prstGeom prst="rect">
            <a:avLst/>
          </a:prstGeom>
          <a:noFill/>
        </p:spPr>
        <p:txBody>
          <a:bodyPr wrap="square" rtlCol="0">
            <a:spAutoFit/>
          </a:bodyPr>
          <a:lstStyle/>
          <a:p>
            <a:r>
              <a:rPr lang="en-US" dirty="0"/>
              <a:t>- Get Icons from this website.</a:t>
            </a:r>
            <a:br>
              <a:rPr lang="en-US" b="1" dirty="0"/>
            </a:br>
            <a:r>
              <a:rPr lang="en-US" b="1" dirty="0" err="1"/>
              <a:t>Flaticon</a:t>
            </a:r>
            <a:br>
              <a:rPr lang="en-US" dirty="0"/>
            </a:br>
            <a:r>
              <a:rPr lang="en-US" dirty="0" err="1"/>
              <a:t>Flaticon</a:t>
            </a:r>
            <a:r>
              <a:rPr lang="en-US" dirty="0"/>
              <a:t>. (n.d.). </a:t>
            </a:r>
            <a:r>
              <a:rPr lang="en-US" i="1" dirty="0"/>
              <a:t>Free icons</a:t>
            </a:r>
            <a:r>
              <a:rPr lang="en-US" dirty="0"/>
              <a:t> — </a:t>
            </a:r>
            <a:r>
              <a:rPr lang="en-US" dirty="0" err="1"/>
              <a:t>Flaticon</a:t>
            </a:r>
            <a:r>
              <a:rPr lang="en-US" dirty="0"/>
              <a:t>. Retrieved December 7, 2025, from </a:t>
            </a:r>
            <a:r>
              <a:rPr lang="en-US" dirty="0">
                <a:hlinkClick r:id="rId3"/>
              </a:rPr>
              <a:t>https://www.flaticon.com/</a:t>
            </a:r>
            <a:endParaRPr lang="en-US" dirty="0"/>
          </a:p>
          <a:p>
            <a:endParaRPr lang="en-US" dirty="0"/>
          </a:p>
          <a:p>
            <a:r>
              <a:rPr lang="en-US" dirty="0"/>
              <a:t>- Get PowerPoint Templates</a:t>
            </a:r>
          </a:p>
          <a:p>
            <a:r>
              <a:rPr lang="en-US" b="1" dirty="0"/>
              <a:t>Free PowerPoint Templates Design</a:t>
            </a:r>
            <a:br>
              <a:rPr lang="en-US" dirty="0"/>
            </a:br>
            <a:r>
              <a:rPr lang="en-US" dirty="0"/>
              <a:t>Free-PowerPoint-Templates-</a:t>
            </a:r>
            <a:r>
              <a:rPr lang="en-US" dirty="0" err="1"/>
              <a:t>Design.com</a:t>
            </a:r>
            <a:r>
              <a:rPr lang="en-US" dirty="0"/>
              <a:t>. (n.d.). </a:t>
            </a:r>
            <a:r>
              <a:rPr lang="en-US" i="1" dirty="0"/>
              <a:t>Free PowerPoint templates and backgrounds</a:t>
            </a:r>
            <a:r>
              <a:rPr lang="en-US" dirty="0"/>
              <a:t> — Free-PowerPoint-Templates-</a:t>
            </a:r>
            <a:r>
              <a:rPr lang="en-US" dirty="0" err="1"/>
              <a:t>Design.com</a:t>
            </a:r>
            <a:r>
              <a:rPr lang="en-US" dirty="0"/>
              <a:t>. Retrieved December 7, 2025, from </a:t>
            </a:r>
            <a:r>
              <a:rPr lang="en-US" dirty="0">
                <a:hlinkClick r:id="rId4"/>
              </a:rPr>
              <a:t>https://www.free-powerpoint-templates-design.com/</a:t>
            </a:r>
            <a:endParaRPr lang="en-US" dirty="0"/>
          </a:p>
          <a:p>
            <a:endParaRPr lang="en-US" dirty="0"/>
          </a:p>
        </p:txBody>
      </p:sp>
    </p:spTree>
    <p:extLst>
      <p:ext uri="{BB962C8B-B14F-4D97-AF65-F5344CB8AC3E}">
        <p14:creationId xmlns:p14="http://schemas.microsoft.com/office/powerpoint/2010/main" val="2389737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TotalTime>
  <Words>1320</Words>
  <Application>Microsoft Macintosh PowerPoint</Application>
  <PresentationFormat>Widescreen</PresentationFormat>
  <Paragraphs>116</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Kelvin Rodriguez</dc:creator>
  <cp:lastModifiedBy>Kelvin Rodriguez</cp:lastModifiedBy>
  <cp:revision>6</cp:revision>
  <dcterms:created xsi:type="dcterms:W3CDTF">2025-12-07T21:54:55Z</dcterms:created>
  <dcterms:modified xsi:type="dcterms:W3CDTF">2025-12-08T00:17:15Z</dcterms:modified>
</cp:coreProperties>
</file>